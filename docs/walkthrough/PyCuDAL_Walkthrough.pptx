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6232E"/>
                </a:solidFill>
                <a:latin typeface="Calibri"/>
              </a:defRPr>
            </a:pPr>
            <a:r>
              <a:rPr sz="1300" b="0" i="0" u="none" strike="noStrike">
                <a:solidFill>
                  <a:srgbClr val="16232E"/>
                </a:solidFill>
                <a:latin typeface="Calibri"/>
              </a:rPr>
              <a:t>Time to build acceptance-limit table (seconds)</a:t>
            </a:r>
          </a:p>
        </c:rich>
      </c:tx>
      <c:layout/>
      <c:overlay val="0"/>
    </c:title>
    <c:autoTitleDeleted val="0"/>
    <c:plotArea>
      <c:layout/>
      <c:barChart>
        <c:barDir val="col"/>
        <c:grouping val="clustered"/>
        <c:varyColors val="0"/>
        <c:ser>
          <c:idx val="0"/>
          <c:order val="0"/>
          <c:tx>
            <c:strRef>
              <c:f>Sheet1!$B$1</c:f>
              <c:strCache>
                <c:ptCount val="1"/>
                <c:pt idx="0">
                  <c:v>Before (per-point search)</c:v>
                </c:pt>
              </c:strCache>
            </c:strRef>
          </c:tx>
          <c:spPr>
            <a:solidFill>
              <a:srgbClr val="5C6B79"/>
            </a:solidFill>
            <a:effectLst/>
          </c:spPr>
          <c:invertIfNegative val="0"/>
          <c:dLbls>
            <c:numFmt formatCode="#,##0" sourceLinked="0"/>
            <c:txPr>
              <a:bodyPr/>
              <a:lstStyle/>
              <a:p>
                <a:pPr>
                  <a:defRPr b="0" i="0" strike="noStrike" sz="1000" u="none">
                    <a:solidFill>
                      <a:srgbClr val="16232E"/>
                    </a:solidFill>
                    <a:latin typeface="Arial"/>
                  </a:defRPr>
                </a:pPr>
              </a:p>
            </c:txPr>
            <c:showLegendKey val="0"/>
            <c:showVal val="1"/>
            <c:showCatName val="0"/>
            <c:showSerName val="0"/>
            <c:showPercent val="0"/>
            <c:showBubbleSize val="0"/>
            <c:showLeaderLines val="0"/>
          </c:dLbls>
          <c:cat>
            <c:multiLvlStrRef>
              <c:f>Sheet1!$A$2:$A$3</c:f>
              <c:multiLvlStrCache>
                <c:ptCount val="2"/>
                <c:lvl>
                  <c:pt idx="0">
                    <c:v>CUSP1 table
(299 means)</c:v>
                  </c:pt>
                  <c:pt idx="1">
                    <c:v>CUSP2 table
(2,116 cells)</c:v>
                  </c:pt>
                </c:lvl>
              </c:multiLvlStrCache>
            </c:multiLvlStrRef>
          </c:cat>
          <c:val>
            <c:numRef>
              <c:f>Sheet1!$B$2:$B$3</c:f>
              <c:numCache>
                <c:formatCode>General</c:formatCode>
                <c:ptCount val="2"/>
                <c:pt idx="0">
                  <c:v>14.5</c:v>
                </c:pt>
                <c:pt idx="1">
                  <c:v>197</c:v>
                </c:pt>
              </c:numCache>
            </c:numRef>
          </c:val>
        </c:ser>
        <c:ser>
          <c:idx val="1"/>
          <c:order val="1"/>
          <c:tx>
            <c:strRef>
              <c:f>Sheet1!$C$1</c:f>
              <c:strCache>
                <c:ptCount val="1"/>
                <c:pt idx="0">
                  <c:v>After (vectorized)</c:v>
                </c:pt>
              </c:strCache>
            </c:strRef>
          </c:tx>
          <c:spPr>
            <a:solidFill>
              <a:srgbClr val="F2A541"/>
            </a:solidFill>
            <a:effectLst/>
          </c:spPr>
          <c:invertIfNegative val="0"/>
          <c:dLbls>
            <c:numFmt formatCode="#,##0" sourceLinked="0"/>
            <c:txPr>
              <a:bodyPr/>
              <a:lstStyle/>
              <a:p>
                <a:pPr>
                  <a:defRPr b="0" i="0" strike="noStrike" sz="1000" u="none">
                    <a:solidFill>
                      <a:srgbClr val="16232E"/>
                    </a:solidFill>
                    <a:latin typeface="Arial"/>
                  </a:defRPr>
                </a:pPr>
              </a:p>
            </c:txPr>
            <c:showLegendKey val="0"/>
            <c:showVal val="1"/>
            <c:showCatName val="0"/>
            <c:showSerName val="0"/>
            <c:showPercent val="0"/>
            <c:showBubbleSize val="0"/>
            <c:showLeaderLines val="0"/>
          </c:dLbls>
          <c:cat>
            <c:multiLvlStrRef>
              <c:f>Sheet1!$A$2:$A$3</c:f>
              <c:multiLvlStrCache>
                <c:ptCount val="2"/>
                <c:lvl>
                  <c:pt idx="0">
                    <c:v>CUSP1 table
(299 means)</c:v>
                  </c:pt>
                  <c:pt idx="1">
                    <c:v>CUSP2 table
(2,116 cells)</c:v>
                  </c:pt>
                </c:lvl>
              </c:multiLvlStrCache>
            </c:multiLvlStrRef>
          </c:cat>
          <c:val>
            <c:numRef>
              <c:f>Sheet1!$C$2:$C$3</c:f>
              <c:numCache>
                <c:formatCode>General</c:formatCode>
                <c:ptCount val="2"/>
                <c:pt idx="0">
                  <c:v>2.3</c:v>
                </c:pt>
                <c:pt idx="1">
                  <c:v>28.5</c:v>
                </c:pt>
              </c:numCache>
            </c:numRef>
          </c:val>
        </c:ser>
        <c:dLbls>
          <c:numFmt formatCode="#,##0" sourceLinked="0"/>
          <c:txPr>
            <a:bodyPr/>
            <a:lstStyle/>
            <a:p>
              <a:pPr>
                <a:defRPr b="0" i="0" strike="noStrike" sz="1000" u="none">
                  <a:solidFill>
                    <a:srgbClr val="16232E"/>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16232E"/>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1E8ED"/>
              </a:solidFill>
              <a:prstDash val="solid"/>
              <a:round/>
            </a:ln>
          </c:spPr>
        </c:majorGridlines>
        <c:title>
          <c:tx>
            <c:rich>
              <a:bodyPr/>
              <a:lstStyle/>
              <a:p>
                <a:pPr>
                  <a:defRPr sz="1100" b="0" i="0" u="none" strike="noStrike">
                    <a:solidFill>
                      <a:srgbClr val="000000"/>
                    </a:solidFill>
                    <a:latin typeface="Arial"/>
                  </a:defRPr>
                </a:pPr>
                <a:r>
                  <a:rPr sz="1100" b="0" i="0" u="none" strike="noStrike">
                    <a:solidFill>
                      <a:srgbClr val="000000"/>
                    </a:solidFill>
                    <a:latin typeface="Arial"/>
                  </a:rPr>
                  <a:t>Seconds</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50" b="0" i="0" u="none" strike="noStrike">
                <a:solidFill>
                  <a:srgbClr val="16232E"/>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16232E"/>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 Hi everyone — today I'm walking through PyCuDAL, an open-source Python translation of a legacy SAS system called CuDAL, used to calculate acceptance limits for two USP tests: Content Uniformity (&lt;905&gt;) and Dissolution (&lt;711&gt;). We're on release v1.0.8. Over the next ~10-15 minutes I'll cover why this exists, what it does, how it was built and verified, and where the validation effort stands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roadmap for the talk: the problem we set out to solve, what the tool actually does, how we made sure the Python matches the original SAS math exactly, how we made it fast, a couple of quality-assurance stories worth highlighting, and finally where validation stands and how people can get involved.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CuDAL itself is a good, statistically sound tool — that's important to say up front. The problem is the platform: SAS/AF is expensive, aging, and hard to maintain or hand off. So the goal was never to redesign the statistics — it was to carry that exact statistical methodology onto a modern, open, maintainable platform.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PyCuDAL has four modules — two for Content Uniformity, two for Dissolution — each covering a single-location and a multi-location sampling plan. And every module offers the same three things: build an acceptance-limit table, evaluate the probability a batch will pass, or check a single observed sample. Under the hood they all share the exact same statistical engine.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won't derive the math in a 10-minute video — there's a full written derivation with proofs in Appendix E of the Validation Protocol — but the short version: this is grounded in classical, published sampling theory, the same family as ASTM E2709/E2810, and every result is deliberately conservative — a guaranteed lower bound rather than a best guess.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translation approach was deliberately conservative: match the original macros exactly first, verify that, and only then think about improving anything. A few examples of the mapping are shown here — SAS macro names on top, the Python function that replaces it below.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it gets fun for the engineers in the room: the CUSP1 acceptance table went from about 14 and a half seconds down to just over 2. The CUSP2 table — the more complex multi-location case — went from roughly 197 seconds down to under 29. Same math, same formulas — the difference is evaluating whole grids of inputs at once with numpy instead of looping one point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good rigor story. We found a real numerical gap between Python and SAS in one narrow situation. We ruled out the obvious suspects — integration step size, simple rounding — and traced it to how SAS's own sequential, warm-started search behaves when the underlying curve becomes almost a step function. Python's independent solve turned out to be the mathematically correct one. It's all written up as its own technical note so nothing is hidden.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add another layer of confidence, we didn't just re-read the Python code — we re-implemented the same math independently in R, and ran it against every single test case in our shared Appendix G data set. All 86 cases across CUSP1 and CUSP2 agreed within numerical tolerance. Two independent codebases, two languages, same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isn't just code with a README — there's a full Validation Protocol behind it, with eight appendices covering everything from the program listing to the test data sets, and five forms to actually execute the validation: loading and running the program, navigating it, verifying the code strategy, agreeing test data, and logging any problems found.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snapshot of where we are: the hard technical work is done — translation, verification, performance, the CUSP2 investigation, the R cross-check, and the Validation Protocol itself are all in place. What's left is genuinely a team effort: executing the validation forms with real users, and longer-term, thinking about a GUI to make this more accessible to non-programmers.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being built in the open on GitHub — release v1.0.8 is live right now. I've also shared it with the ISPE Open Forum community and on LinkedIn specifically to ask for help finishing the validation. If you want to try it, run some test cases, or help fill out any of the forms, the repository link is right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Looking ahead: right now the focus is community-driven validation — getting real people to run the forms. After that, expanding test coverage further, then exploring a GUI so this isn't just for people comfortable with a command line, and eventually a formal release once validation is fully closed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That's the walkthrough. PyCuDAL is open, it's verified, and the validation is genuinely a community effort at this point — so if any of this resonated, please go try it out, run a few cases, and consider helping with the forms. Thanks so much for watching.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2355B"/>
          </a:solidFill>
          <a:ln/>
        </p:spPr>
      </p:sp>
      <p:sp>
        <p:nvSpPr>
          <p:cNvPr id="3" name="Shape 1"/>
          <p:cNvSpPr/>
          <p:nvPr/>
        </p:nvSpPr>
        <p:spPr>
          <a:xfrm>
            <a:off x="8778240" y="-2011680"/>
            <a:ext cx="5943600" cy="5943600"/>
          </a:xfrm>
          <a:prstGeom prst="ellipse">
            <a:avLst/>
          </a:prstGeom>
          <a:solidFill>
            <a:srgbClr val="0B2440"/>
          </a:solidFill>
          <a:ln/>
        </p:spPr>
      </p:sp>
      <p:sp>
        <p:nvSpPr>
          <p:cNvPr id="4" name="Shape 2"/>
          <p:cNvSpPr/>
          <p:nvPr/>
        </p:nvSpPr>
        <p:spPr>
          <a:xfrm>
            <a:off x="9784080" y="-1188720"/>
            <a:ext cx="3840480" cy="3840480"/>
          </a:xfrm>
          <a:prstGeom prst="ellipse">
            <a:avLst/>
          </a:prstGeom>
          <a:solidFill>
            <a:srgbClr val="1C7293"/>
          </a:solidFill>
          <a:ln/>
        </p:spPr>
      </p:sp>
      <p:sp>
        <p:nvSpPr>
          <p:cNvPr id="5" name="Shape 3"/>
          <p:cNvSpPr/>
          <p:nvPr/>
        </p:nvSpPr>
        <p:spPr>
          <a:xfrm>
            <a:off x="-1828800" y="4389120"/>
            <a:ext cx="4572000" cy="4572000"/>
          </a:xfrm>
          <a:prstGeom prst="ellipse">
            <a:avLst/>
          </a:prstGeom>
          <a:solidFill>
            <a:srgbClr val="1C7293"/>
          </a:solidFill>
          <a:ln/>
        </p:spPr>
      </p:sp>
      <p:sp>
        <p:nvSpPr>
          <p:cNvPr id="6" name="Shape 4"/>
          <p:cNvSpPr/>
          <p:nvPr/>
        </p:nvSpPr>
        <p:spPr>
          <a:xfrm>
            <a:off x="640080" y="685800"/>
            <a:ext cx="1554480" cy="365760"/>
          </a:xfrm>
          <a:prstGeom prst="roundRect">
            <a:avLst>
              <a:gd name="adj" fmla="val 50000"/>
            </a:avLst>
          </a:prstGeom>
          <a:solidFill>
            <a:srgbClr val="F2A541"/>
          </a:solidFill>
          <a:ln/>
        </p:spPr>
      </p:sp>
      <p:sp>
        <p:nvSpPr>
          <p:cNvPr id="7" name="Text 5"/>
          <p:cNvSpPr txBox="1"/>
          <p:nvPr/>
        </p:nvSpPr>
        <p:spPr>
          <a:xfrm>
            <a:off x="640080" y="685800"/>
            <a:ext cx="1554480" cy="365760"/>
          </a:xfrm>
          <a:prstGeom prst="rect">
            <a:avLst/>
          </a:prstGeom>
          <a:noFill/>
          <a:ln/>
        </p:spPr>
        <p:txBody>
          <a:bodyPr wrap="square" lIns="0" tIns="0" rIns="0" bIns="0" rtlCol="0" anchor="ctr"/>
          <a:lstStyle/>
          <a:p>
            <a:pPr algn="ctr" indent="0" marL="0">
              <a:buNone/>
            </a:pPr>
            <a:r>
              <a:rPr lang="en-US" sz="1200" b="1" dirty="0">
                <a:solidFill>
                  <a:srgbClr val="0B2440"/>
                </a:solidFill>
                <a:latin typeface="Calibri" pitchFamily="34" charset="0"/>
                <a:ea typeface="Calibri" pitchFamily="34" charset="-122"/>
                <a:cs typeface="Calibri" pitchFamily="34" charset="-120"/>
              </a:rPr>
              <a:t>v1.0.8</a:t>
            </a:r>
            <a:endParaRPr lang="en-US" sz="1200" dirty="0"/>
          </a:p>
        </p:txBody>
      </p:sp>
      <p:sp>
        <p:nvSpPr>
          <p:cNvPr id="8" name="Text 6"/>
          <p:cNvSpPr txBox="1"/>
          <p:nvPr/>
        </p:nvSpPr>
        <p:spPr>
          <a:xfrm>
            <a:off x="548640" y="2331720"/>
            <a:ext cx="9601200" cy="1280160"/>
          </a:xfrm>
          <a:prstGeom prst="rect">
            <a:avLst/>
          </a:prstGeom>
          <a:noFill/>
          <a:ln/>
        </p:spPr>
        <p:txBody>
          <a:bodyPr wrap="square" lIns="0" tIns="0" rIns="0" bIns="0" rtlCol="0" anchor="ctr"/>
          <a:lstStyle/>
          <a:p>
            <a:pPr indent="0" marL="0">
              <a:buNone/>
            </a:pPr>
            <a:r>
              <a:rPr lang="en-US" sz="6000" b="1" dirty="0">
                <a:solidFill>
                  <a:srgbClr val="FFFFFF"/>
                </a:solidFill>
                <a:latin typeface="Cambria" pitchFamily="34" charset="0"/>
                <a:ea typeface="Cambria" pitchFamily="34" charset="-122"/>
                <a:cs typeface="Cambria" pitchFamily="34" charset="-120"/>
              </a:rPr>
              <a:t>PyCuDAL</a:t>
            </a:r>
            <a:endParaRPr lang="en-US" sz="6000" dirty="0"/>
          </a:p>
        </p:txBody>
      </p:sp>
      <p:sp>
        <p:nvSpPr>
          <p:cNvPr id="9" name="Text 7"/>
          <p:cNvSpPr txBox="1"/>
          <p:nvPr/>
        </p:nvSpPr>
        <p:spPr>
          <a:xfrm>
            <a:off x="594360" y="3520440"/>
            <a:ext cx="9601200" cy="502920"/>
          </a:xfrm>
          <a:prstGeom prst="rect">
            <a:avLst/>
          </a:prstGeom>
          <a:noFill/>
          <a:ln/>
        </p:spPr>
        <p:txBody>
          <a:bodyPr wrap="square" lIns="0" tIns="0" rIns="0" bIns="0" rtlCol="0" anchor="ctr"/>
          <a:lstStyle/>
          <a:p>
            <a:pPr indent="0" marL="0">
              <a:buNone/>
            </a:pPr>
            <a:r>
              <a:rPr lang="en-US" sz="2200" dirty="0">
                <a:solidFill>
                  <a:srgbClr val="5FA8C4"/>
                </a:solidFill>
                <a:latin typeface="Calibri" pitchFamily="34" charset="0"/>
                <a:ea typeface="Calibri" pitchFamily="34" charset="-122"/>
                <a:cs typeface="Calibri" pitchFamily="34" charset="-120"/>
              </a:rPr>
              <a:t>From Legacy SAS to Open-Source Python</a:t>
            </a:r>
            <a:endParaRPr lang="en-US" sz="2200" dirty="0"/>
          </a:p>
        </p:txBody>
      </p:sp>
      <p:sp>
        <p:nvSpPr>
          <p:cNvPr id="10" name="Text 8"/>
          <p:cNvSpPr txBox="1"/>
          <p:nvPr/>
        </p:nvSpPr>
        <p:spPr>
          <a:xfrm>
            <a:off x="594360" y="3977640"/>
            <a:ext cx="9601200" cy="365760"/>
          </a:xfrm>
          <a:prstGeom prst="rect">
            <a:avLst/>
          </a:prstGeom>
          <a:noFill/>
          <a:ln/>
        </p:spPr>
        <p:txBody>
          <a:bodyPr wrap="square" lIns="0" tIns="0" rIns="0" bIns="0" rtlCol="0" anchor="ctr"/>
          <a:lstStyle/>
          <a:p>
            <a:pPr indent="0" marL="0">
              <a:buNone/>
            </a:pPr>
            <a:r>
              <a:rPr lang="en-US" sz="1400" dirty="0">
                <a:solidFill>
                  <a:srgbClr val="CFE3ED"/>
                </a:solidFill>
                <a:latin typeface="Calibri" pitchFamily="34" charset="0"/>
                <a:ea typeface="Calibri" pitchFamily="34" charset="-122"/>
                <a:cs typeface="Calibri" pitchFamily="34" charset="-120"/>
              </a:rPr>
              <a:t>Parametric acceptance limits for USP &lt;905&gt; Content Uniformity  •  USP &lt;711&gt; Dissolution</a:t>
            </a:r>
            <a:endParaRPr lang="en-US" sz="1400" dirty="0"/>
          </a:p>
        </p:txBody>
      </p:sp>
      <p:sp>
        <p:nvSpPr>
          <p:cNvPr id="11" name="Shape 9"/>
          <p:cNvSpPr/>
          <p:nvPr/>
        </p:nvSpPr>
        <p:spPr>
          <a:xfrm>
            <a:off x="621792" y="4709160"/>
            <a:ext cx="1005840" cy="0"/>
          </a:xfrm>
          <a:prstGeom prst="line">
            <a:avLst/>
          </a:prstGeom>
          <a:noFill/>
          <a:ln w="38100">
            <a:solidFill>
              <a:srgbClr val="F2A541"/>
            </a:solidFill>
            <a:prstDash val="solid"/>
          </a:ln>
        </p:spPr>
      </p:sp>
      <p:sp>
        <p:nvSpPr>
          <p:cNvPr id="12" name="Text 10"/>
          <p:cNvSpPr txBox="1"/>
          <p:nvPr/>
        </p:nvSpPr>
        <p:spPr>
          <a:xfrm>
            <a:off x="594360" y="4846320"/>
            <a:ext cx="8229600" cy="365760"/>
          </a:xfrm>
          <a:prstGeom prst="rect">
            <a:avLst/>
          </a:prstGeom>
          <a:noFill/>
          <a:ln/>
        </p:spPr>
        <p:txBody>
          <a:bodyPr wrap="square" lIns="0" tIns="0" rIns="0" bIns="0" rtlCol="0" anchor="ctr"/>
          <a:lstStyle/>
          <a:p>
            <a:pPr indent="0" marL="0">
              <a:buNone/>
            </a:pPr>
            <a:r>
              <a:rPr lang="en-US" sz="1300" i="1" dirty="0">
                <a:solidFill>
                  <a:srgbClr val="CFE3ED"/>
                </a:solidFill>
                <a:latin typeface="Calibri" pitchFamily="34" charset="0"/>
                <a:ea typeface="Calibri" pitchFamily="34" charset="-122"/>
                <a:cs typeface="Calibri" pitchFamily="34" charset="-120"/>
              </a:rPr>
              <a:t>Project Walkthrough — Design, Verification &amp; Validation</a:t>
            </a:r>
            <a:endParaRPr lang="en-US" sz="1300" dirty="0"/>
          </a:p>
        </p:txBody>
      </p:sp>
      <p:sp>
        <p:nvSpPr>
          <p:cNvPr id="13" name="Text 11"/>
          <p:cNvSpPr txBox="1"/>
          <p:nvPr/>
        </p:nvSpPr>
        <p:spPr>
          <a:xfrm>
            <a:off x="11548872" y="6446520"/>
            <a:ext cx="365760" cy="274320"/>
          </a:xfrm>
          <a:prstGeom prst="rect">
            <a:avLst/>
          </a:prstGeom>
          <a:noFill/>
          <a:ln/>
        </p:spPr>
        <p:txBody>
          <a:bodyPr wrap="square" lIns="0" tIns="0" rIns="0" bIns="0" rtlCol="0" anchor="ctr"/>
          <a:lstStyle/>
          <a:p>
            <a:pPr algn="r" indent="0" marL="0">
              <a:buNone/>
            </a:pPr>
            <a:r>
              <a:rPr lang="en-US" sz="1000" dirty="0">
                <a:solidFill>
                  <a:srgbClr val="CFE3ED"/>
                </a:solidFill>
                <a:latin typeface="Calibri" pitchFamily="34" charset="0"/>
                <a:ea typeface="Calibri" pitchFamily="34" charset="-122"/>
                <a:cs typeface="Calibri" pitchFamily="34" charset="-120"/>
              </a:rPr>
              <a:t>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5F8FA"/>
          </a:solidFill>
          <a:ln/>
        </p:spPr>
      </p:sp>
      <p:sp>
        <p:nvSpPr>
          <p:cNvPr id="3" name="Text 1"/>
          <p:cNvSpPr txBox="1"/>
          <p:nvPr/>
        </p:nvSpPr>
        <p:spPr>
          <a:xfrm>
            <a:off x="640080" y="457200"/>
            <a:ext cx="7315200" cy="320040"/>
          </a:xfrm>
          <a:prstGeom prst="rect">
            <a:avLst/>
          </a:prstGeom>
          <a:noFill/>
          <a:ln/>
        </p:spPr>
        <p:txBody>
          <a:bodyPr wrap="square" lIns="0" tIns="0" rIns="0" bIns="0" rtlCol="0" anchor="ctr"/>
          <a:lstStyle/>
          <a:p>
            <a:pPr indent="0" marL="0">
              <a:buNone/>
            </a:pPr>
            <a:r>
              <a:rPr lang="en-US" sz="1300" b="1" spc="200" kern="0" dirty="0">
                <a:solidFill>
                  <a:srgbClr val="F2A541"/>
                </a:solidFill>
                <a:latin typeface="Calibri" pitchFamily="34" charset="0"/>
                <a:ea typeface="Calibri" pitchFamily="34" charset="-122"/>
                <a:cs typeface="Calibri" pitchFamily="34" charset="-120"/>
              </a:rPr>
              <a:t>AGENDA</a:t>
            </a:r>
            <a:endParaRPr lang="en-US" sz="1300" dirty="0"/>
          </a:p>
        </p:txBody>
      </p:sp>
      <p:sp>
        <p:nvSpPr>
          <p:cNvPr id="4" name="Text 2"/>
          <p:cNvSpPr txBox="1"/>
          <p:nvPr/>
        </p:nvSpPr>
        <p:spPr>
          <a:xfrm>
            <a:off x="640080" y="777240"/>
            <a:ext cx="10515600" cy="822960"/>
          </a:xfrm>
          <a:prstGeom prst="rect">
            <a:avLst/>
          </a:prstGeom>
          <a:noFill/>
          <a:ln/>
        </p:spPr>
        <p:txBody>
          <a:bodyPr wrap="square" lIns="0" tIns="0" rIns="0" bIns="0" rtlCol="0" anchor="ctr"/>
          <a:lstStyle/>
          <a:p>
            <a:pPr indent="0" marL="0">
              <a:buNone/>
            </a:pPr>
            <a:r>
              <a:rPr lang="en-US" sz="3400" b="1" dirty="0">
                <a:solidFill>
                  <a:srgbClr val="12355B"/>
                </a:solidFill>
                <a:latin typeface="Cambria" pitchFamily="34" charset="0"/>
                <a:ea typeface="Cambria" pitchFamily="34" charset="-122"/>
                <a:cs typeface="Cambria" pitchFamily="34" charset="-120"/>
              </a:rPr>
              <a:t>What We'll Cover</a:t>
            </a:r>
            <a:endParaRPr lang="en-US" sz="3400" dirty="0"/>
          </a:p>
        </p:txBody>
      </p:sp>
      <p:sp>
        <p:nvSpPr>
          <p:cNvPr id="5" name="Shape 3"/>
          <p:cNvSpPr/>
          <p:nvPr/>
        </p:nvSpPr>
        <p:spPr>
          <a:xfrm>
            <a:off x="640080" y="2103120"/>
            <a:ext cx="457200" cy="457200"/>
          </a:xfrm>
          <a:prstGeom prst="ellipse">
            <a:avLst/>
          </a:prstGeom>
          <a:solidFill>
            <a:srgbClr val="12355B"/>
          </a:solidFill>
          <a:ln/>
        </p:spPr>
      </p:sp>
      <p:sp>
        <p:nvSpPr>
          <p:cNvPr id="6" name="Text 4"/>
          <p:cNvSpPr txBox="1"/>
          <p:nvPr/>
        </p:nvSpPr>
        <p:spPr>
          <a:xfrm>
            <a:off x="640080" y="210312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7" name="Text 5"/>
          <p:cNvSpPr txBox="1"/>
          <p:nvPr/>
        </p:nvSpPr>
        <p:spPr>
          <a:xfrm>
            <a:off x="1325880" y="2057400"/>
            <a:ext cx="4389120" cy="320040"/>
          </a:xfrm>
          <a:prstGeom prst="rect">
            <a:avLst/>
          </a:prstGeom>
          <a:noFill/>
          <a:ln/>
        </p:spPr>
        <p:txBody>
          <a:bodyPr wrap="square" lIns="0" tIns="0" rIns="0" bIns="0" rtlCol="0" anchor="ctr"/>
          <a:lstStyle/>
          <a:p>
            <a:pPr indent="0" marL="0">
              <a:buNone/>
            </a:pPr>
            <a:r>
              <a:rPr lang="en-US" sz="1600" b="1" dirty="0">
                <a:solidFill>
                  <a:srgbClr val="12355B"/>
                </a:solidFill>
                <a:latin typeface="Calibri" pitchFamily="34" charset="0"/>
                <a:ea typeface="Calibri" pitchFamily="34" charset="-122"/>
                <a:cs typeface="Calibri" pitchFamily="34" charset="-120"/>
              </a:rPr>
              <a:t>The Problem</a:t>
            </a:r>
            <a:endParaRPr lang="en-US" sz="1600" dirty="0"/>
          </a:p>
        </p:txBody>
      </p:sp>
      <p:sp>
        <p:nvSpPr>
          <p:cNvPr id="8" name="Text 6"/>
          <p:cNvSpPr txBox="1"/>
          <p:nvPr/>
        </p:nvSpPr>
        <p:spPr>
          <a:xfrm>
            <a:off x="1325880" y="2359152"/>
            <a:ext cx="4389120" cy="1024128"/>
          </a:xfrm>
          <a:prstGeom prst="rect">
            <a:avLst/>
          </a:prstGeom>
          <a:noFill/>
          <a:ln/>
        </p:spPr>
        <p:txBody>
          <a:bodyPr wrap="square" lIns="0" tIns="0" rIns="0" bIns="0" rtlCol="0" anchor="t"/>
          <a:lstStyle/>
          <a:p>
            <a:pPr indent="0" marL="0">
              <a:buNone/>
            </a:pPr>
            <a:r>
              <a:rPr lang="en-US" sz="1250" dirty="0">
                <a:solidFill>
                  <a:srgbClr val="5C6B79"/>
                </a:solidFill>
                <a:latin typeface="Calibri" pitchFamily="34" charset="0"/>
                <a:ea typeface="Calibri" pitchFamily="34" charset="-122"/>
                <a:cs typeface="Calibri" pitchFamily="34" charset="-120"/>
              </a:rPr>
              <a:t>Why a decades-old SAS system needed rethinking</a:t>
            </a:r>
            <a:endParaRPr lang="en-US" sz="1250" dirty="0"/>
          </a:p>
        </p:txBody>
      </p:sp>
      <p:sp>
        <p:nvSpPr>
          <p:cNvPr id="9" name="Shape 7"/>
          <p:cNvSpPr/>
          <p:nvPr/>
        </p:nvSpPr>
        <p:spPr>
          <a:xfrm>
            <a:off x="6172200" y="2103120"/>
            <a:ext cx="457200" cy="457200"/>
          </a:xfrm>
          <a:prstGeom prst="ellipse">
            <a:avLst/>
          </a:prstGeom>
          <a:solidFill>
            <a:srgbClr val="1C7293"/>
          </a:solidFill>
          <a:ln/>
        </p:spPr>
      </p:sp>
      <p:sp>
        <p:nvSpPr>
          <p:cNvPr id="10" name="Text 8"/>
          <p:cNvSpPr txBox="1"/>
          <p:nvPr/>
        </p:nvSpPr>
        <p:spPr>
          <a:xfrm>
            <a:off x="6172200" y="210312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1" name="Text 9"/>
          <p:cNvSpPr txBox="1"/>
          <p:nvPr/>
        </p:nvSpPr>
        <p:spPr>
          <a:xfrm>
            <a:off x="6858000" y="2057400"/>
            <a:ext cx="4389120" cy="320040"/>
          </a:xfrm>
          <a:prstGeom prst="rect">
            <a:avLst/>
          </a:prstGeom>
          <a:noFill/>
          <a:ln/>
        </p:spPr>
        <p:txBody>
          <a:bodyPr wrap="square" lIns="0" tIns="0" rIns="0" bIns="0" rtlCol="0" anchor="ctr"/>
          <a:lstStyle/>
          <a:p>
            <a:pPr indent="0" marL="0">
              <a:buNone/>
            </a:pPr>
            <a:r>
              <a:rPr lang="en-US" sz="1600" b="1" dirty="0">
                <a:solidFill>
                  <a:srgbClr val="12355B"/>
                </a:solidFill>
                <a:latin typeface="Calibri" pitchFamily="34" charset="0"/>
                <a:ea typeface="Calibri" pitchFamily="34" charset="-122"/>
                <a:cs typeface="Calibri" pitchFamily="34" charset="-120"/>
              </a:rPr>
              <a:t>What PyCuDAL Does</a:t>
            </a:r>
            <a:endParaRPr lang="en-US" sz="1600" dirty="0"/>
          </a:p>
        </p:txBody>
      </p:sp>
      <p:sp>
        <p:nvSpPr>
          <p:cNvPr id="12" name="Text 10"/>
          <p:cNvSpPr txBox="1"/>
          <p:nvPr/>
        </p:nvSpPr>
        <p:spPr>
          <a:xfrm>
            <a:off x="6858000" y="2359152"/>
            <a:ext cx="4389120" cy="1024128"/>
          </a:xfrm>
          <a:prstGeom prst="rect">
            <a:avLst/>
          </a:prstGeom>
          <a:noFill/>
          <a:ln/>
        </p:spPr>
        <p:txBody>
          <a:bodyPr wrap="square" lIns="0" tIns="0" rIns="0" bIns="0" rtlCol="0" anchor="t"/>
          <a:lstStyle/>
          <a:p>
            <a:pPr indent="0" marL="0">
              <a:buNone/>
            </a:pPr>
            <a:r>
              <a:rPr lang="en-US" sz="1250" dirty="0">
                <a:solidFill>
                  <a:srgbClr val="5C6B79"/>
                </a:solidFill>
                <a:latin typeface="Calibri" pitchFamily="34" charset="0"/>
                <a:ea typeface="Calibri" pitchFamily="34" charset="-122"/>
                <a:cs typeface="Calibri" pitchFamily="34" charset="-120"/>
              </a:rPr>
              <a:t>Four modules, three analysis modes, one shared engine</a:t>
            </a:r>
            <a:endParaRPr lang="en-US" sz="1250" dirty="0"/>
          </a:p>
        </p:txBody>
      </p:sp>
      <p:sp>
        <p:nvSpPr>
          <p:cNvPr id="13" name="Shape 11"/>
          <p:cNvSpPr/>
          <p:nvPr/>
        </p:nvSpPr>
        <p:spPr>
          <a:xfrm>
            <a:off x="640080" y="3749040"/>
            <a:ext cx="457200" cy="457200"/>
          </a:xfrm>
          <a:prstGeom prst="ellipse">
            <a:avLst/>
          </a:prstGeom>
          <a:solidFill>
            <a:srgbClr val="12355B"/>
          </a:solidFill>
          <a:ln/>
        </p:spPr>
      </p:sp>
      <p:sp>
        <p:nvSpPr>
          <p:cNvPr id="14" name="Text 12"/>
          <p:cNvSpPr txBox="1"/>
          <p:nvPr/>
        </p:nvSpPr>
        <p:spPr>
          <a:xfrm>
            <a:off x="640080" y="374904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5" name="Text 13"/>
          <p:cNvSpPr txBox="1"/>
          <p:nvPr/>
        </p:nvSpPr>
        <p:spPr>
          <a:xfrm>
            <a:off x="1325880" y="3703320"/>
            <a:ext cx="4389120" cy="320040"/>
          </a:xfrm>
          <a:prstGeom prst="rect">
            <a:avLst/>
          </a:prstGeom>
          <a:noFill/>
          <a:ln/>
        </p:spPr>
        <p:txBody>
          <a:bodyPr wrap="square" lIns="0" tIns="0" rIns="0" bIns="0" rtlCol="0" anchor="ctr"/>
          <a:lstStyle/>
          <a:p>
            <a:pPr indent="0" marL="0">
              <a:buNone/>
            </a:pPr>
            <a:r>
              <a:rPr lang="en-US" sz="1600" b="1" dirty="0">
                <a:solidFill>
                  <a:srgbClr val="12355B"/>
                </a:solidFill>
                <a:latin typeface="Calibri" pitchFamily="34" charset="0"/>
                <a:ea typeface="Calibri" pitchFamily="34" charset="-122"/>
                <a:cs typeface="Calibri" pitchFamily="34" charset="-120"/>
              </a:rPr>
              <a:t>Faithful Translation</a:t>
            </a:r>
            <a:endParaRPr lang="en-US" sz="1600" dirty="0"/>
          </a:p>
        </p:txBody>
      </p:sp>
      <p:sp>
        <p:nvSpPr>
          <p:cNvPr id="16" name="Text 14"/>
          <p:cNvSpPr txBox="1"/>
          <p:nvPr/>
        </p:nvSpPr>
        <p:spPr>
          <a:xfrm>
            <a:off x="1325880" y="4005072"/>
            <a:ext cx="4389120" cy="1024128"/>
          </a:xfrm>
          <a:prstGeom prst="rect">
            <a:avLst/>
          </a:prstGeom>
          <a:noFill/>
          <a:ln/>
        </p:spPr>
        <p:txBody>
          <a:bodyPr wrap="square" lIns="0" tIns="0" rIns="0" bIns="0" rtlCol="0" anchor="t"/>
          <a:lstStyle/>
          <a:p>
            <a:pPr indent="0" marL="0">
              <a:buNone/>
            </a:pPr>
            <a:r>
              <a:rPr lang="en-US" sz="1250" dirty="0">
                <a:solidFill>
                  <a:srgbClr val="5C6B79"/>
                </a:solidFill>
                <a:latin typeface="Calibri" pitchFamily="34" charset="0"/>
                <a:ea typeface="Calibri" pitchFamily="34" charset="-122"/>
                <a:cs typeface="Calibri" pitchFamily="34" charset="-120"/>
              </a:rPr>
              <a:t>Verifying every formula against the original SAS macros</a:t>
            </a:r>
            <a:endParaRPr lang="en-US" sz="1250" dirty="0"/>
          </a:p>
        </p:txBody>
      </p:sp>
      <p:sp>
        <p:nvSpPr>
          <p:cNvPr id="17" name="Shape 15"/>
          <p:cNvSpPr/>
          <p:nvPr/>
        </p:nvSpPr>
        <p:spPr>
          <a:xfrm>
            <a:off x="6172200" y="3749040"/>
            <a:ext cx="457200" cy="457200"/>
          </a:xfrm>
          <a:prstGeom prst="ellipse">
            <a:avLst/>
          </a:prstGeom>
          <a:solidFill>
            <a:srgbClr val="1C7293"/>
          </a:solidFill>
          <a:ln/>
        </p:spPr>
      </p:sp>
      <p:sp>
        <p:nvSpPr>
          <p:cNvPr id="18" name="Text 16"/>
          <p:cNvSpPr txBox="1"/>
          <p:nvPr/>
        </p:nvSpPr>
        <p:spPr>
          <a:xfrm>
            <a:off x="6172200" y="374904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19" name="Text 17"/>
          <p:cNvSpPr txBox="1"/>
          <p:nvPr/>
        </p:nvSpPr>
        <p:spPr>
          <a:xfrm>
            <a:off x="6858000" y="3703320"/>
            <a:ext cx="4389120" cy="320040"/>
          </a:xfrm>
          <a:prstGeom prst="rect">
            <a:avLst/>
          </a:prstGeom>
          <a:noFill/>
          <a:ln/>
        </p:spPr>
        <p:txBody>
          <a:bodyPr wrap="square" lIns="0" tIns="0" rIns="0" bIns="0" rtlCol="0" anchor="ctr"/>
          <a:lstStyle/>
          <a:p>
            <a:pPr indent="0" marL="0">
              <a:buNone/>
            </a:pPr>
            <a:r>
              <a:rPr lang="en-US" sz="1600" b="1" dirty="0">
                <a:solidFill>
                  <a:srgbClr val="12355B"/>
                </a:solidFill>
                <a:latin typeface="Calibri" pitchFamily="34" charset="0"/>
                <a:ea typeface="Calibri" pitchFamily="34" charset="-122"/>
                <a:cs typeface="Calibri" pitchFamily="34" charset="-120"/>
              </a:rPr>
              <a:t>Performance Engineering</a:t>
            </a:r>
            <a:endParaRPr lang="en-US" sz="1600" dirty="0"/>
          </a:p>
        </p:txBody>
      </p:sp>
      <p:sp>
        <p:nvSpPr>
          <p:cNvPr id="20" name="Text 18"/>
          <p:cNvSpPr txBox="1"/>
          <p:nvPr/>
        </p:nvSpPr>
        <p:spPr>
          <a:xfrm>
            <a:off x="6858000" y="4005072"/>
            <a:ext cx="4389120" cy="1024128"/>
          </a:xfrm>
          <a:prstGeom prst="rect">
            <a:avLst/>
          </a:prstGeom>
          <a:noFill/>
          <a:ln/>
        </p:spPr>
        <p:txBody>
          <a:bodyPr wrap="square" lIns="0" tIns="0" rIns="0" bIns="0" rtlCol="0" anchor="t"/>
          <a:lstStyle/>
          <a:p>
            <a:pPr indent="0" marL="0">
              <a:buNone/>
            </a:pPr>
            <a:r>
              <a:rPr lang="en-US" sz="1250" dirty="0">
                <a:solidFill>
                  <a:srgbClr val="5C6B79"/>
                </a:solidFill>
                <a:latin typeface="Calibri" pitchFamily="34" charset="0"/>
                <a:ea typeface="Calibri" pitchFamily="34" charset="-122"/>
                <a:cs typeface="Calibri" pitchFamily="34" charset="-120"/>
              </a:rPr>
              <a:t>Vectorizing the math for real speed gains</a:t>
            </a:r>
            <a:endParaRPr lang="en-US" sz="1250" dirty="0"/>
          </a:p>
        </p:txBody>
      </p:sp>
      <p:sp>
        <p:nvSpPr>
          <p:cNvPr id="21" name="Shape 19"/>
          <p:cNvSpPr/>
          <p:nvPr/>
        </p:nvSpPr>
        <p:spPr>
          <a:xfrm>
            <a:off x="640080" y="5394960"/>
            <a:ext cx="457200" cy="457200"/>
          </a:xfrm>
          <a:prstGeom prst="ellipse">
            <a:avLst/>
          </a:prstGeom>
          <a:solidFill>
            <a:srgbClr val="12355B"/>
          </a:solidFill>
          <a:ln/>
        </p:spPr>
      </p:sp>
      <p:sp>
        <p:nvSpPr>
          <p:cNvPr id="22" name="Text 20"/>
          <p:cNvSpPr txBox="1"/>
          <p:nvPr/>
        </p:nvSpPr>
        <p:spPr>
          <a:xfrm>
            <a:off x="640080" y="539496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5</a:t>
            </a:r>
            <a:endParaRPr lang="en-US" sz="1800" dirty="0"/>
          </a:p>
        </p:txBody>
      </p:sp>
      <p:sp>
        <p:nvSpPr>
          <p:cNvPr id="23" name="Text 21"/>
          <p:cNvSpPr txBox="1"/>
          <p:nvPr/>
        </p:nvSpPr>
        <p:spPr>
          <a:xfrm>
            <a:off x="1325880" y="5349240"/>
            <a:ext cx="4389120" cy="320040"/>
          </a:xfrm>
          <a:prstGeom prst="rect">
            <a:avLst/>
          </a:prstGeom>
          <a:noFill/>
          <a:ln/>
        </p:spPr>
        <p:txBody>
          <a:bodyPr wrap="square" lIns="0" tIns="0" rIns="0" bIns="0" rtlCol="0" anchor="ctr"/>
          <a:lstStyle/>
          <a:p>
            <a:pPr indent="0" marL="0">
              <a:buNone/>
            </a:pPr>
            <a:r>
              <a:rPr lang="en-US" sz="1600" b="1" dirty="0">
                <a:solidFill>
                  <a:srgbClr val="12355B"/>
                </a:solidFill>
                <a:latin typeface="Calibri" pitchFamily="34" charset="0"/>
                <a:ea typeface="Calibri" pitchFamily="34" charset="-122"/>
                <a:cs typeface="Calibri" pitchFamily="34" charset="-120"/>
              </a:rPr>
              <a:t>Rigor in Practice</a:t>
            </a:r>
            <a:endParaRPr lang="en-US" sz="1600" dirty="0"/>
          </a:p>
        </p:txBody>
      </p:sp>
      <p:sp>
        <p:nvSpPr>
          <p:cNvPr id="24" name="Text 22"/>
          <p:cNvSpPr txBox="1"/>
          <p:nvPr/>
        </p:nvSpPr>
        <p:spPr>
          <a:xfrm>
            <a:off x="1325880" y="5650992"/>
            <a:ext cx="4389120" cy="1024128"/>
          </a:xfrm>
          <a:prstGeom prst="rect">
            <a:avLst/>
          </a:prstGeom>
          <a:noFill/>
          <a:ln/>
        </p:spPr>
        <p:txBody>
          <a:bodyPr wrap="square" lIns="0" tIns="0" rIns="0" bIns="0" rtlCol="0" anchor="t"/>
          <a:lstStyle/>
          <a:p>
            <a:pPr indent="0" marL="0">
              <a:buNone/>
            </a:pPr>
            <a:r>
              <a:rPr lang="en-US" sz="1250" dirty="0">
                <a:solidFill>
                  <a:srgbClr val="5C6B79"/>
                </a:solidFill>
                <a:latin typeface="Calibri" pitchFamily="34" charset="0"/>
                <a:ea typeface="Calibri" pitchFamily="34" charset="-122"/>
                <a:cs typeface="Calibri" pitchFamily="34" charset="-120"/>
              </a:rPr>
              <a:t>The CUSP2 investigation and an independent R cross-check</a:t>
            </a:r>
            <a:endParaRPr lang="en-US" sz="1250" dirty="0"/>
          </a:p>
        </p:txBody>
      </p:sp>
      <p:sp>
        <p:nvSpPr>
          <p:cNvPr id="25" name="Shape 23"/>
          <p:cNvSpPr/>
          <p:nvPr/>
        </p:nvSpPr>
        <p:spPr>
          <a:xfrm>
            <a:off x="6172200" y="5394960"/>
            <a:ext cx="457200" cy="457200"/>
          </a:xfrm>
          <a:prstGeom prst="ellipse">
            <a:avLst/>
          </a:prstGeom>
          <a:solidFill>
            <a:srgbClr val="1C7293"/>
          </a:solidFill>
          <a:ln/>
        </p:spPr>
      </p:sp>
      <p:sp>
        <p:nvSpPr>
          <p:cNvPr id="26" name="Text 24"/>
          <p:cNvSpPr txBox="1"/>
          <p:nvPr/>
        </p:nvSpPr>
        <p:spPr>
          <a:xfrm>
            <a:off x="6172200" y="539496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6</a:t>
            </a:r>
            <a:endParaRPr lang="en-US" sz="1800" dirty="0"/>
          </a:p>
        </p:txBody>
      </p:sp>
      <p:sp>
        <p:nvSpPr>
          <p:cNvPr id="27" name="Text 25"/>
          <p:cNvSpPr txBox="1"/>
          <p:nvPr/>
        </p:nvSpPr>
        <p:spPr>
          <a:xfrm>
            <a:off x="6858000" y="5349240"/>
            <a:ext cx="4389120" cy="320040"/>
          </a:xfrm>
          <a:prstGeom prst="rect">
            <a:avLst/>
          </a:prstGeom>
          <a:noFill/>
          <a:ln/>
        </p:spPr>
        <p:txBody>
          <a:bodyPr wrap="square" lIns="0" tIns="0" rIns="0" bIns="0" rtlCol="0" anchor="ctr"/>
          <a:lstStyle/>
          <a:p>
            <a:pPr indent="0" marL="0">
              <a:buNone/>
            </a:pPr>
            <a:r>
              <a:rPr lang="en-US" sz="1600" b="1" dirty="0">
                <a:solidFill>
                  <a:srgbClr val="12355B"/>
                </a:solidFill>
                <a:latin typeface="Calibri" pitchFamily="34" charset="0"/>
                <a:ea typeface="Calibri" pitchFamily="34" charset="-122"/>
                <a:cs typeface="Calibri" pitchFamily="34" charset="-120"/>
              </a:rPr>
              <a:t>Validation &amp; What's Next</a:t>
            </a:r>
            <a:endParaRPr lang="en-US" sz="1600" dirty="0"/>
          </a:p>
        </p:txBody>
      </p:sp>
      <p:sp>
        <p:nvSpPr>
          <p:cNvPr id="28" name="Text 26"/>
          <p:cNvSpPr txBox="1"/>
          <p:nvPr/>
        </p:nvSpPr>
        <p:spPr>
          <a:xfrm>
            <a:off x="6858000" y="5650992"/>
            <a:ext cx="4389120" cy="1024128"/>
          </a:xfrm>
          <a:prstGeom prst="rect">
            <a:avLst/>
          </a:prstGeom>
          <a:noFill/>
          <a:ln/>
        </p:spPr>
        <p:txBody>
          <a:bodyPr wrap="square" lIns="0" tIns="0" rIns="0" bIns="0" rtlCol="0" anchor="t"/>
          <a:lstStyle/>
          <a:p>
            <a:pPr indent="0" marL="0">
              <a:buNone/>
            </a:pPr>
            <a:r>
              <a:rPr lang="en-US" sz="1250" dirty="0">
                <a:solidFill>
                  <a:srgbClr val="5C6B79"/>
                </a:solidFill>
                <a:latin typeface="Calibri" pitchFamily="34" charset="0"/>
                <a:ea typeface="Calibri" pitchFamily="34" charset="-122"/>
                <a:cs typeface="Calibri" pitchFamily="34" charset="-120"/>
              </a:rPr>
              <a:t>The protocol in progress, and how you can help</a:t>
            </a:r>
            <a:endParaRPr lang="en-US" sz="1250" dirty="0"/>
          </a:p>
        </p:txBody>
      </p:sp>
      <p:sp>
        <p:nvSpPr>
          <p:cNvPr id="29" name="Text 27"/>
          <p:cNvSpPr txBox="1"/>
          <p:nvPr/>
        </p:nvSpPr>
        <p:spPr>
          <a:xfrm>
            <a:off x="11548872" y="6446520"/>
            <a:ext cx="365760" cy="274320"/>
          </a:xfrm>
          <a:prstGeom prst="rect">
            <a:avLst/>
          </a:prstGeom>
          <a:noFill/>
          <a:ln/>
        </p:spPr>
        <p:txBody>
          <a:bodyPr wrap="square" lIns="0" tIns="0" rIns="0" bIns="0" rtlCol="0" anchor="ctr"/>
          <a:lstStyle/>
          <a:p>
            <a:pPr algn="r" indent="0" marL="0">
              <a:buNone/>
            </a:pPr>
            <a:r>
              <a:rPr lang="en-US" sz="1000" dirty="0">
                <a:solidFill>
                  <a:srgbClr val="5C6B79"/>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5F8FA"/>
          </a:solidFill>
          <a:ln/>
        </p:spPr>
      </p:sp>
      <p:sp>
        <p:nvSpPr>
          <p:cNvPr id="3" name="Text 1"/>
          <p:cNvSpPr txBox="1"/>
          <p:nvPr/>
        </p:nvSpPr>
        <p:spPr>
          <a:xfrm>
            <a:off x="640080" y="457200"/>
            <a:ext cx="7315200" cy="320040"/>
          </a:xfrm>
          <a:prstGeom prst="rect">
            <a:avLst/>
          </a:prstGeom>
          <a:noFill/>
          <a:ln/>
        </p:spPr>
        <p:txBody>
          <a:bodyPr wrap="square" lIns="0" tIns="0" rIns="0" bIns="0" rtlCol="0" anchor="ctr"/>
          <a:lstStyle/>
          <a:p>
            <a:pPr indent="0" marL="0">
              <a:buNone/>
            </a:pPr>
            <a:r>
              <a:rPr lang="en-US" sz="1300" b="1" spc="200" kern="0" dirty="0">
                <a:solidFill>
                  <a:srgbClr val="F2A541"/>
                </a:solidFill>
                <a:latin typeface="Calibri" pitchFamily="34" charset="0"/>
                <a:ea typeface="Calibri" pitchFamily="34" charset="-122"/>
                <a:cs typeface="Calibri" pitchFamily="34" charset="-120"/>
              </a:rPr>
              <a:t>BACKGROUND</a:t>
            </a:r>
            <a:endParaRPr lang="en-US" sz="1300" dirty="0"/>
          </a:p>
        </p:txBody>
      </p:sp>
      <p:sp>
        <p:nvSpPr>
          <p:cNvPr id="4" name="Text 2"/>
          <p:cNvSpPr txBox="1"/>
          <p:nvPr/>
        </p:nvSpPr>
        <p:spPr>
          <a:xfrm>
            <a:off x="640080" y="777240"/>
            <a:ext cx="10515600" cy="822960"/>
          </a:xfrm>
          <a:prstGeom prst="rect">
            <a:avLst/>
          </a:prstGeom>
          <a:noFill/>
          <a:ln/>
        </p:spPr>
        <p:txBody>
          <a:bodyPr wrap="square" lIns="0" tIns="0" rIns="0" bIns="0" rtlCol="0" anchor="ctr"/>
          <a:lstStyle/>
          <a:p>
            <a:pPr indent="0" marL="0">
              <a:buNone/>
            </a:pPr>
            <a:r>
              <a:rPr lang="en-US" sz="3400" b="1" dirty="0">
                <a:solidFill>
                  <a:srgbClr val="12355B"/>
                </a:solidFill>
                <a:latin typeface="Cambria" pitchFamily="34" charset="0"/>
                <a:ea typeface="Cambria" pitchFamily="34" charset="-122"/>
                <a:cs typeface="Cambria" pitchFamily="34" charset="-120"/>
              </a:rPr>
              <a:t>Why Replace a System That Works?</a:t>
            </a:r>
            <a:endParaRPr lang="en-US" sz="3400" dirty="0"/>
          </a:p>
        </p:txBody>
      </p:sp>
      <p:sp>
        <p:nvSpPr>
          <p:cNvPr id="5" name="Text 3"/>
          <p:cNvSpPr txBox="1"/>
          <p:nvPr/>
        </p:nvSpPr>
        <p:spPr>
          <a:xfrm>
            <a:off x="640080" y="1965960"/>
            <a:ext cx="6309360" cy="4206240"/>
          </a:xfrm>
          <a:prstGeom prst="rect">
            <a:avLst/>
          </a:prstGeom>
          <a:noFill/>
          <a:ln/>
        </p:spPr>
        <p:txBody>
          <a:bodyPr wrap="square" lIns="0" tIns="0" rIns="0" bIns="0" rtlCol="0" anchor="t"/>
          <a:lstStyle/>
          <a:p>
            <a:pPr marL="228600" indent="-228600">
              <a:spcAft>
                <a:spcPts val="1600"/>
              </a:spcAft>
              <a:buSzPct val="100000"/>
              <a:buChar char="•"/>
            </a:pPr>
            <a:r>
              <a:rPr lang="en-US" sz="1550" dirty="0">
                <a:solidFill>
                  <a:srgbClr val="16232E"/>
                </a:solidFill>
                <a:latin typeface="Calibri" pitchFamily="34" charset="0"/>
                <a:ea typeface="Calibri" pitchFamily="34" charset="-122"/>
                <a:cs typeface="Calibri" pitchFamily="34" charset="-120"/>
              </a:rPr>
              <a:t>CuDAL calculates parametric (tolerance-interval) acceptance limits for two compendial tests: USP &lt;905&gt; Content Uniformity and USP &lt;711&gt; Dissolution.</a:t>
            </a:r>
            <a:endParaRPr lang="en-US" sz="1550" dirty="0"/>
          </a:p>
          <a:p>
            <a:pPr marL="228600" indent="-228600">
              <a:spcAft>
                <a:spcPts val="1600"/>
              </a:spcAft>
              <a:buSzPct val="100000"/>
              <a:buChar char="•"/>
            </a:pPr>
            <a:r>
              <a:rPr lang="en-US" sz="1550" dirty="0">
                <a:solidFill>
                  <a:srgbClr val="16232E"/>
                </a:solidFill>
                <a:latin typeface="Calibri" pitchFamily="34" charset="0"/>
                <a:ea typeface="Calibri" pitchFamily="34" charset="-122"/>
                <a:cs typeface="Calibri" pitchFamily="34" charset="-120"/>
              </a:rPr>
              <a:t>The original system is a SAS/AF application — reliable statistically, but built on a platform that is expensive to license, hard to install, and difficult to extend.</a:t>
            </a:r>
            <a:endParaRPr lang="en-US" sz="1550" dirty="0"/>
          </a:p>
          <a:p>
            <a:pPr marL="228600" indent="-228600">
              <a:spcAft>
                <a:spcPts val="1600"/>
              </a:spcAft>
              <a:buSzPct val="100000"/>
              <a:buChar char="•"/>
            </a:pPr>
            <a:r>
              <a:rPr lang="en-US" sz="1550" dirty="0">
                <a:solidFill>
                  <a:srgbClr val="16232E"/>
                </a:solidFill>
                <a:latin typeface="Calibri" pitchFamily="34" charset="0"/>
                <a:ea typeface="Calibri" pitchFamily="34" charset="-122"/>
                <a:cs typeface="Calibri" pitchFamily="34" charset="-120"/>
              </a:rPr>
              <a:t>The underlying methodology is sound. The problem was never the math — it was everything around it.</a:t>
            </a:r>
            <a:endParaRPr lang="en-US" sz="1550" dirty="0"/>
          </a:p>
        </p:txBody>
      </p:sp>
      <p:sp>
        <p:nvSpPr>
          <p:cNvPr id="6" name="Shape 4"/>
          <p:cNvSpPr/>
          <p:nvPr/>
        </p:nvSpPr>
        <p:spPr>
          <a:xfrm>
            <a:off x="7315200" y="1965960"/>
            <a:ext cx="4206240" cy="4114800"/>
          </a:xfrm>
          <a:prstGeom prst="roundRect">
            <a:avLst>
              <a:gd name="adj" fmla="val 1778"/>
            </a:avLst>
          </a:prstGeom>
          <a:solidFill>
            <a:srgbClr val="FFFFFF"/>
          </a:solidFill>
          <a:ln w="12700">
            <a:solidFill>
              <a:srgbClr val="E1E8ED"/>
            </a:solidFill>
            <a:prstDash val="solid"/>
          </a:ln>
          <a:effectLst>
            <a:outerShdw sx="100000" sy="100000" kx="0" ky="0" algn="bl" rotWithShape="0" blurRad="101600" dist="25400" dir="5400000">
              <a:srgbClr val="1B2733">
                <a:alpha val="12000"/>
              </a:srgbClr>
            </a:outerShdw>
          </a:effectLst>
        </p:spPr>
      </p:sp>
      <p:sp>
        <p:nvSpPr>
          <p:cNvPr id="7" name="Text 5"/>
          <p:cNvSpPr txBox="1"/>
          <p:nvPr/>
        </p:nvSpPr>
        <p:spPr>
          <a:xfrm>
            <a:off x="7635240" y="2194560"/>
            <a:ext cx="3566160" cy="365760"/>
          </a:xfrm>
          <a:prstGeom prst="rect">
            <a:avLst/>
          </a:prstGeom>
          <a:noFill/>
          <a:ln/>
        </p:spPr>
        <p:txBody>
          <a:bodyPr wrap="square" lIns="0" tIns="0" rIns="0" bIns="0" rtlCol="0" anchor="ctr"/>
          <a:lstStyle/>
          <a:p>
            <a:pPr indent="0" marL="0">
              <a:buNone/>
            </a:pPr>
            <a:r>
              <a:rPr lang="en-US" sz="1500" b="1" dirty="0">
                <a:solidFill>
                  <a:srgbClr val="12355B"/>
                </a:solidFill>
                <a:latin typeface="Calibri" pitchFamily="34" charset="0"/>
                <a:ea typeface="Calibri" pitchFamily="34" charset="-122"/>
                <a:cs typeface="Calibri" pitchFamily="34" charset="-120"/>
              </a:rPr>
              <a:t>The SAS Pain Points</a:t>
            </a:r>
            <a:endParaRPr lang="en-US" sz="1500" dirty="0"/>
          </a:p>
        </p:txBody>
      </p:sp>
      <p:sp>
        <p:nvSpPr>
          <p:cNvPr id="8" name="Shape 6"/>
          <p:cNvSpPr/>
          <p:nvPr/>
        </p:nvSpPr>
        <p:spPr>
          <a:xfrm>
            <a:off x="7635240" y="2697480"/>
            <a:ext cx="256032" cy="256032"/>
          </a:xfrm>
          <a:prstGeom prst="ellipse">
            <a:avLst/>
          </a:prstGeom>
          <a:solidFill>
            <a:srgbClr val="F2A541"/>
          </a:solidFill>
          <a:ln/>
        </p:spPr>
      </p:sp>
      <p:sp>
        <p:nvSpPr>
          <p:cNvPr id="9" name="Text 7"/>
          <p:cNvSpPr txBox="1"/>
          <p:nvPr/>
        </p:nvSpPr>
        <p:spPr>
          <a:xfrm>
            <a:off x="7635240" y="2697480"/>
            <a:ext cx="256032" cy="256032"/>
          </a:xfrm>
          <a:prstGeom prst="rect">
            <a:avLst/>
          </a:prstGeom>
          <a:noFill/>
          <a:ln/>
        </p:spPr>
        <p:txBody>
          <a:bodyPr wrap="square" lIns="0" tIns="0" rIns="0" bIns="0" rtlCol="0" anchor="ctr"/>
          <a:lstStyle/>
          <a:p>
            <a:pPr algn="ctr" indent="0" marL="0">
              <a:buNone/>
            </a:pPr>
            <a:r>
              <a:rPr lang="en-US" sz="1300" b="1" dirty="0">
                <a:solidFill>
                  <a:srgbClr val="0B2440"/>
                </a:solidFill>
                <a:latin typeface="Cambria" pitchFamily="34" charset="0"/>
                <a:ea typeface="Cambria" pitchFamily="34" charset="-122"/>
                <a:cs typeface="Cambria" pitchFamily="34" charset="-120"/>
              </a:rPr>
              <a:t>!</a:t>
            </a:r>
            <a:endParaRPr lang="en-US" sz="1300" dirty="0"/>
          </a:p>
        </p:txBody>
      </p:sp>
      <p:sp>
        <p:nvSpPr>
          <p:cNvPr id="10" name="Text 8"/>
          <p:cNvSpPr txBox="1"/>
          <p:nvPr/>
        </p:nvSpPr>
        <p:spPr>
          <a:xfrm>
            <a:off x="8028432" y="2642616"/>
            <a:ext cx="3200400" cy="274320"/>
          </a:xfrm>
          <a:prstGeom prst="rect">
            <a:avLst/>
          </a:prstGeom>
          <a:noFill/>
          <a:ln/>
        </p:spPr>
        <p:txBody>
          <a:bodyPr wrap="square" lIns="0" tIns="0" rIns="0" bIns="0" rtlCol="0" anchor="ctr"/>
          <a:lstStyle/>
          <a:p>
            <a:pPr indent="0" marL="0">
              <a:buNone/>
            </a:pPr>
            <a:r>
              <a:rPr lang="en-US" sz="1350" b="1" dirty="0">
                <a:solidFill>
                  <a:srgbClr val="16232E"/>
                </a:solidFill>
                <a:latin typeface="Calibri" pitchFamily="34" charset="0"/>
                <a:ea typeface="Calibri" pitchFamily="34" charset="-122"/>
                <a:cs typeface="Calibri" pitchFamily="34" charset="-120"/>
              </a:rPr>
              <a:t>Aging platform</a:t>
            </a:r>
            <a:endParaRPr lang="en-US" sz="1350" dirty="0"/>
          </a:p>
        </p:txBody>
      </p:sp>
      <p:sp>
        <p:nvSpPr>
          <p:cNvPr id="11" name="Text 9"/>
          <p:cNvSpPr txBox="1"/>
          <p:nvPr/>
        </p:nvSpPr>
        <p:spPr>
          <a:xfrm>
            <a:off x="8028432" y="2916936"/>
            <a:ext cx="3200400" cy="457200"/>
          </a:xfrm>
          <a:prstGeom prst="rect">
            <a:avLst/>
          </a:prstGeom>
          <a:noFill/>
          <a:ln/>
        </p:spPr>
        <p:txBody>
          <a:bodyPr wrap="square" lIns="0" tIns="0" rIns="0" bIns="0" rtlCol="0" anchor="ctr"/>
          <a:lstStyle/>
          <a:p>
            <a:pPr indent="0" marL="0">
              <a:buNone/>
            </a:pPr>
            <a:r>
              <a:rPr lang="en-US" sz="1150" dirty="0">
                <a:solidFill>
                  <a:srgbClr val="5C6B79"/>
                </a:solidFill>
                <a:latin typeface="Calibri" pitchFamily="34" charset="0"/>
                <a:ea typeface="Calibri" pitchFamily="34" charset="-122"/>
                <a:cs typeface="Calibri" pitchFamily="34" charset="-120"/>
              </a:rPr>
              <a:t>SAS/AF interface, hard to run on modern systems</a:t>
            </a:r>
            <a:endParaRPr lang="en-US" sz="1150" dirty="0"/>
          </a:p>
        </p:txBody>
      </p:sp>
      <p:sp>
        <p:nvSpPr>
          <p:cNvPr id="12" name="Shape 10"/>
          <p:cNvSpPr/>
          <p:nvPr/>
        </p:nvSpPr>
        <p:spPr>
          <a:xfrm>
            <a:off x="7635240" y="3474720"/>
            <a:ext cx="256032" cy="256032"/>
          </a:xfrm>
          <a:prstGeom prst="ellipse">
            <a:avLst/>
          </a:prstGeom>
          <a:solidFill>
            <a:srgbClr val="F2A541"/>
          </a:solidFill>
          <a:ln/>
        </p:spPr>
      </p:sp>
      <p:sp>
        <p:nvSpPr>
          <p:cNvPr id="13" name="Text 11"/>
          <p:cNvSpPr txBox="1"/>
          <p:nvPr/>
        </p:nvSpPr>
        <p:spPr>
          <a:xfrm>
            <a:off x="7635240" y="3474720"/>
            <a:ext cx="256032" cy="256032"/>
          </a:xfrm>
          <a:prstGeom prst="rect">
            <a:avLst/>
          </a:prstGeom>
          <a:noFill/>
          <a:ln/>
        </p:spPr>
        <p:txBody>
          <a:bodyPr wrap="square" lIns="0" tIns="0" rIns="0" bIns="0" rtlCol="0" anchor="ctr"/>
          <a:lstStyle/>
          <a:p>
            <a:pPr algn="ctr" indent="0" marL="0">
              <a:buNone/>
            </a:pPr>
            <a:r>
              <a:rPr lang="en-US" sz="1300" b="1" dirty="0">
                <a:solidFill>
                  <a:srgbClr val="0B2440"/>
                </a:solidFill>
                <a:latin typeface="Cambria" pitchFamily="34" charset="0"/>
                <a:ea typeface="Cambria" pitchFamily="34" charset="-122"/>
                <a:cs typeface="Cambria" pitchFamily="34" charset="-120"/>
              </a:rPr>
              <a:t>!</a:t>
            </a:r>
            <a:endParaRPr lang="en-US" sz="1300" dirty="0"/>
          </a:p>
        </p:txBody>
      </p:sp>
      <p:sp>
        <p:nvSpPr>
          <p:cNvPr id="14" name="Text 12"/>
          <p:cNvSpPr txBox="1"/>
          <p:nvPr/>
        </p:nvSpPr>
        <p:spPr>
          <a:xfrm>
            <a:off x="8028432" y="3419856"/>
            <a:ext cx="3200400" cy="274320"/>
          </a:xfrm>
          <a:prstGeom prst="rect">
            <a:avLst/>
          </a:prstGeom>
          <a:noFill/>
          <a:ln/>
        </p:spPr>
        <p:txBody>
          <a:bodyPr wrap="square" lIns="0" tIns="0" rIns="0" bIns="0" rtlCol="0" anchor="ctr"/>
          <a:lstStyle/>
          <a:p>
            <a:pPr indent="0" marL="0">
              <a:buNone/>
            </a:pPr>
            <a:r>
              <a:rPr lang="en-US" sz="1350" b="1" dirty="0">
                <a:solidFill>
                  <a:srgbClr val="16232E"/>
                </a:solidFill>
                <a:latin typeface="Calibri" pitchFamily="34" charset="0"/>
                <a:ea typeface="Calibri" pitchFamily="34" charset="-122"/>
                <a:cs typeface="Calibri" pitchFamily="34" charset="-120"/>
              </a:rPr>
              <a:t>Licensing cost</a:t>
            </a:r>
            <a:endParaRPr lang="en-US" sz="1350" dirty="0"/>
          </a:p>
        </p:txBody>
      </p:sp>
      <p:sp>
        <p:nvSpPr>
          <p:cNvPr id="15" name="Text 13"/>
          <p:cNvSpPr txBox="1"/>
          <p:nvPr/>
        </p:nvSpPr>
        <p:spPr>
          <a:xfrm>
            <a:off x="8028432" y="3694176"/>
            <a:ext cx="3200400" cy="457200"/>
          </a:xfrm>
          <a:prstGeom prst="rect">
            <a:avLst/>
          </a:prstGeom>
          <a:noFill/>
          <a:ln/>
        </p:spPr>
        <p:txBody>
          <a:bodyPr wrap="square" lIns="0" tIns="0" rIns="0" bIns="0" rtlCol="0" anchor="ctr"/>
          <a:lstStyle/>
          <a:p>
            <a:pPr indent="0" marL="0">
              <a:buNone/>
            </a:pPr>
            <a:r>
              <a:rPr lang="en-US" sz="1150" dirty="0">
                <a:solidFill>
                  <a:srgbClr val="5C6B79"/>
                </a:solidFill>
                <a:latin typeface="Calibri" pitchFamily="34" charset="0"/>
                <a:ea typeface="Calibri" pitchFamily="34" charset="-122"/>
                <a:cs typeface="Calibri" pitchFamily="34" charset="-120"/>
              </a:rPr>
              <a:t>Ongoing SAS licensing just to run one tool</a:t>
            </a:r>
            <a:endParaRPr lang="en-US" sz="1150" dirty="0"/>
          </a:p>
        </p:txBody>
      </p:sp>
      <p:sp>
        <p:nvSpPr>
          <p:cNvPr id="16" name="Shape 14"/>
          <p:cNvSpPr/>
          <p:nvPr/>
        </p:nvSpPr>
        <p:spPr>
          <a:xfrm>
            <a:off x="7635240" y="4251960"/>
            <a:ext cx="256032" cy="256032"/>
          </a:xfrm>
          <a:prstGeom prst="ellipse">
            <a:avLst/>
          </a:prstGeom>
          <a:solidFill>
            <a:srgbClr val="F2A541"/>
          </a:solidFill>
          <a:ln/>
        </p:spPr>
      </p:sp>
      <p:sp>
        <p:nvSpPr>
          <p:cNvPr id="17" name="Text 15"/>
          <p:cNvSpPr txBox="1"/>
          <p:nvPr/>
        </p:nvSpPr>
        <p:spPr>
          <a:xfrm>
            <a:off x="7635240" y="4251960"/>
            <a:ext cx="256032" cy="256032"/>
          </a:xfrm>
          <a:prstGeom prst="rect">
            <a:avLst/>
          </a:prstGeom>
          <a:noFill/>
          <a:ln/>
        </p:spPr>
        <p:txBody>
          <a:bodyPr wrap="square" lIns="0" tIns="0" rIns="0" bIns="0" rtlCol="0" anchor="ctr"/>
          <a:lstStyle/>
          <a:p>
            <a:pPr algn="ctr" indent="0" marL="0">
              <a:buNone/>
            </a:pPr>
            <a:r>
              <a:rPr lang="en-US" sz="1300" b="1" dirty="0">
                <a:solidFill>
                  <a:srgbClr val="0B2440"/>
                </a:solidFill>
                <a:latin typeface="Cambria" pitchFamily="34" charset="0"/>
                <a:ea typeface="Cambria" pitchFamily="34" charset="-122"/>
                <a:cs typeface="Cambria" pitchFamily="34" charset="-120"/>
              </a:rPr>
              <a:t>!</a:t>
            </a:r>
            <a:endParaRPr lang="en-US" sz="1300" dirty="0"/>
          </a:p>
        </p:txBody>
      </p:sp>
      <p:sp>
        <p:nvSpPr>
          <p:cNvPr id="18" name="Text 16"/>
          <p:cNvSpPr txBox="1"/>
          <p:nvPr/>
        </p:nvSpPr>
        <p:spPr>
          <a:xfrm>
            <a:off x="8028432" y="4197096"/>
            <a:ext cx="3200400" cy="274320"/>
          </a:xfrm>
          <a:prstGeom prst="rect">
            <a:avLst/>
          </a:prstGeom>
          <a:noFill/>
          <a:ln/>
        </p:spPr>
        <p:txBody>
          <a:bodyPr wrap="square" lIns="0" tIns="0" rIns="0" bIns="0" rtlCol="0" anchor="ctr"/>
          <a:lstStyle/>
          <a:p>
            <a:pPr indent="0" marL="0">
              <a:buNone/>
            </a:pPr>
            <a:r>
              <a:rPr lang="en-US" sz="1350" b="1" dirty="0">
                <a:solidFill>
                  <a:srgbClr val="16232E"/>
                </a:solidFill>
                <a:latin typeface="Calibri" pitchFamily="34" charset="0"/>
                <a:ea typeface="Calibri" pitchFamily="34" charset="-122"/>
                <a:cs typeface="Calibri" pitchFamily="34" charset="-120"/>
              </a:rPr>
              <a:t>Hard to maintain</a:t>
            </a:r>
            <a:endParaRPr lang="en-US" sz="1350" dirty="0"/>
          </a:p>
        </p:txBody>
      </p:sp>
      <p:sp>
        <p:nvSpPr>
          <p:cNvPr id="19" name="Text 17"/>
          <p:cNvSpPr txBox="1"/>
          <p:nvPr/>
        </p:nvSpPr>
        <p:spPr>
          <a:xfrm>
            <a:off x="8028432" y="4471416"/>
            <a:ext cx="3200400" cy="457200"/>
          </a:xfrm>
          <a:prstGeom prst="rect">
            <a:avLst/>
          </a:prstGeom>
          <a:noFill/>
          <a:ln/>
        </p:spPr>
        <p:txBody>
          <a:bodyPr wrap="square" lIns="0" tIns="0" rIns="0" bIns="0" rtlCol="0" anchor="ctr"/>
          <a:lstStyle/>
          <a:p>
            <a:pPr indent="0" marL="0">
              <a:buNone/>
            </a:pPr>
            <a:r>
              <a:rPr lang="en-US" sz="1150" dirty="0">
                <a:solidFill>
                  <a:srgbClr val="5C6B79"/>
                </a:solidFill>
                <a:latin typeface="Calibri" pitchFamily="34" charset="0"/>
                <a:ea typeface="Calibri" pitchFamily="34" charset="-122"/>
                <a:cs typeface="Calibri" pitchFamily="34" charset="-120"/>
              </a:rPr>
              <a:t>Legacy macro code, few people can safely edit it</a:t>
            </a:r>
            <a:endParaRPr lang="en-US" sz="1150" dirty="0"/>
          </a:p>
        </p:txBody>
      </p:sp>
      <p:sp>
        <p:nvSpPr>
          <p:cNvPr id="20" name="Shape 18"/>
          <p:cNvSpPr/>
          <p:nvPr/>
        </p:nvSpPr>
        <p:spPr>
          <a:xfrm>
            <a:off x="7635240" y="5029200"/>
            <a:ext cx="256032" cy="256032"/>
          </a:xfrm>
          <a:prstGeom prst="ellipse">
            <a:avLst/>
          </a:prstGeom>
          <a:solidFill>
            <a:srgbClr val="F2A541"/>
          </a:solidFill>
          <a:ln/>
        </p:spPr>
      </p:sp>
      <p:sp>
        <p:nvSpPr>
          <p:cNvPr id="21" name="Text 19"/>
          <p:cNvSpPr txBox="1"/>
          <p:nvPr/>
        </p:nvSpPr>
        <p:spPr>
          <a:xfrm>
            <a:off x="7635240" y="5029200"/>
            <a:ext cx="256032" cy="256032"/>
          </a:xfrm>
          <a:prstGeom prst="rect">
            <a:avLst/>
          </a:prstGeom>
          <a:noFill/>
          <a:ln/>
        </p:spPr>
        <p:txBody>
          <a:bodyPr wrap="square" lIns="0" tIns="0" rIns="0" bIns="0" rtlCol="0" anchor="ctr"/>
          <a:lstStyle/>
          <a:p>
            <a:pPr algn="ctr" indent="0" marL="0">
              <a:buNone/>
            </a:pPr>
            <a:r>
              <a:rPr lang="en-US" sz="1300" b="1" dirty="0">
                <a:solidFill>
                  <a:srgbClr val="0B2440"/>
                </a:solidFill>
                <a:latin typeface="Cambria" pitchFamily="34" charset="0"/>
                <a:ea typeface="Cambria" pitchFamily="34" charset="-122"/>
                <a:cs typeface="Cambria" pitchFamily="34" charset="-120"/>
              </a:rPr>
              <a:t>!</a:t>
            </a:r>
            <a:endParaRPr lang="en-US" sz="1300" dirty="0"/>
          </a:p>
        </p:txBody>
      </p:sp>
      <p:sp>
        <p:nvSpPr>
          <p:cNvPr id="22" name="Text 20"/>
          <p:cNvSpPr txBox="1"/>
          <p:nvPr/>
        </p:nvSpPr>
        <p:spPr>
          <a:xfrm>
            <a:off x="8028432" y="4974336"/>
            <a:ext cx="3200400" cy="274320"/>
          </a:xfrm>
          <a:prstGeom prst="rect">
            <a:avLst/>
          </a:prstGeom>
          <a:noFill/>
          <a:ln/>
        </p:spPr>
        <p:txBody>
          <a:bodyPr wrap="square" lIns="0" tIns="0" rIns="0" bIns="0" rtlCol="0" anchor="ctr"/>
          <a:lstStyle/>
          <a:p>
            <a:pPr indent="0" marL="0">
              <a:buNone/>
            </a:pPr>
            <a:r>
              <a:rPr lang="en-US" sz="1350" b="1" dirty="0">
                <a:solidFill>
                  <a:srgbClr val="16232E"/>
                </a:solidFill>
                <a:latin typeface="Calibri" pitchFamily="34" charset="0"/>
                <a:ea typeface="Calibri" pitchFamily="34" charset="-122"/>
                <a:cs typeface="Calibri" pitchFamily="34" charset="-120"/>
              </a:rPr>
              <a:t>Limited access</a:t>
            </a:r>
            <a:endParaRPr lang="en-US" sz="1350" dirty="0"/>
          </a:p>
        </p:txBody>
      </p:sp>
      <p:sp>
        <p:nvSpPr>
          <p:cNvPr id="23" name="Text 21"/>
          <p:cNvSpPr txBox="1"/>
          <p:nvPr/>
        </p:nvSpPr>
        <p:spPr>
          <a:xfrm>
            <a:off x="8028432" y="5248656"/>
            <a:ext cx="3200400" cy="457200"/>
          </a:xfrm>
          <a:prstGeom prst="rect">
            <a:avLst/>
          </a:prstGeom>
          <a:noFill/>
          <a:ln/>
        </p:spPr>
        <p:txBody>
          <a:bodyPr wrap="square" lIns="0" tIns="0" rIns="0" bIns="0" rtlCol="0" anchor="ctr"/>
          <a:lstStyle/>
          <a:p>
            <a:pPr indent="0" marL="0">
              <a:buNone/>
            </a:pPr>
            <a:r>
              <a:rPr lang="en-US" sz="1150" dirty="0">
                <a:solidFill>
                  <a:srgbClr val="5C6B79"/>
                </a:solidFill>
                <a:latin typeface="Calibri" pitchFamily="34" charset="0"/>
                <a:ea typeface="Calibri" pitchFamily="34" charset="-122"/>
                <a:cs typeface="Calibri" pitchFamily="34" charset="-120"/>
              </a:rPr>
              <a:t>Not easy to share, install, or extend across teams</a:t>
            </a:r>
            <a:endParaRPr lang="en-US" sz="1150" dirty="0"/>
          </a:p>
        </p:txBody>
      </p:sp>
      <p:sp>
        <p:nvSpPr>
          <p:cNvPr id="24" name="Text 22"/>
          <p:cNvSpPr txBox="1"/>
          <p:nvPr/>
        </p:nvSpPr>
        <p:spPr>
          <a:xfrm>
            <a:off x="11548872" y="6446520"/>
            <a:ext cx="365760" cy="274320"/>
          </a:xfrm>
          <a:prstGeom prst="rect">
            <a:avLst/>
          </a:prstGeom>
          <a:noFill/>
          <a:ln/>
        </p:spPr>
        <p:txBody>
          <a:bodyPr wrap="square" lIns="0" tIns="0" rIns="0" bIns="0" rtlCol="0" anchor="ctr"/>
          <a:lstStyle/>
          <a:p>
            <a:pPr algn="r" indent="0" marL="0">
              <a:buNone/>
            </a:pPr>
            <a:r>
              <a:rPr lang="en-US" sz="1000" dirty="0">
                <a:solidFill>
                  <a:srgbClr val="5C6B79"/>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5F8FA"/>
          </a:solidFill>
          <a:ln/>
        </p:spPr>
      </p:sp>
      <p:sp>
        <p:nvSpPr>
          <p:cNvPr id="3" name="Text 1"/>
          <p:cNvSpPr txBox="1"/>
          <p:nvPr/>
        </p:nvSpPr>
        <p:spPr>
          <a:xfrm>
            <a:off x="640080" y="457200"/>
            <a:ext cx="7315200" cy="320040"/>
          </a:xfrm>
          <a:prstGeom prst="rect">
            <a:avLst/>
          </a:prstGeom>
          <a:noFill/>
          <a:ln/>
        </p:spPr>
        <p:txBody>
          <a:bodyPr wrap="square" lIns="0" tIns="0" rIns="0" bIns="0" rtlCol="0" anchor="ctr"/>
          <a:lstStyle/>
          <a:p>
            <a:pPr indent="0" marL="0">
              <a:buNone/>
            </a:pPr>
            <a:r>
              <a:rPr lang="en-US" sz="1300" b="1" spc="200" kern="0" dirty="0">
                <a:solidFill>
                  <a:srgbClr val="F2A541"/>
                </a:solidFill>
                <a:latin typeface="Calibri" pitchFamily="34" charset="0"/>
                <a:ea typeface="Calibri" pitchFamily="34" charset="-122"/>
                <a:cs typeface="Calibri" pitchFamily="34" charset="-120"/>
              </a:rPr>
              <a:t>THE TOOL</a:t>
            </a:r>
            <a:endParaRPr lang="en-US" sz="1300" dirty="0"/>
          </a:p>
        </p:txBody>
      </p:sp>
      <p:sp>
        <p:nvSpPr>
          <p:cNvPr id="4" name="Text 2"/>
          <p:cNvSpPr txBox="1"/>
          <p:nvPr/>
        </p:nvSpPr>
        <p:spPr>
          <a:xfrm>
            <a:off x="640080" y="777240"/>
            <a:ext cx="10515600" cy="822960"/>
          </a:xfrm>
          <a:prstGeom prst="rect">
            <a:avLst/>
          </a:prstGeom>
          <a:noFill/>
          <a:ln/>
        </p:spPr>
        <p:txBody>
          <a:bodyPr wrap="square" lIns="0" tIns="0" rIns="0" bIns="0" rtlCol="0" anchor="ctr"/>
          <a:lstStyle/>
          <a:p>
            <a:pPr indent="0" marL="0">
              <a:buNone/>
            </a:pPr>
            <a:r>
              <a:rPr lang="en-US" sz="3400" b="1" dirty="0">
                <a:solidFill>
                  <a:srgbClr val="12355B"/>
                </a:solidFill>
                <a:latin typeface="Cambria" pitchFamily="34" charset="0"/>
                <a:ea typeface="Cambria" pitchFamily="34" charset="-122"/>
                <a:cs typeface="Cambria" pitchFamily="34" charset="-120"/>
              </a:rPr>
              <a:t>Four Modules, One Shared Engine</a:t>
            </a:r>
            <a:endParaRPr lang="en-US" sz="3400" dirty="0"/>
          </a:p>
        </p:txBody>
      </p:sp>
      <p:sp>
        <p:nvSpPr>
          <p:cNvPr id="5" name="Shape 3"/>
          <p:cNvSpPr/>
          <p:nvPr/>
        </p:nvSpPr>
        <p:spPr>
          <a:xfrm>
            <a:off x="640080" y="1965960"/>
            <a:ext cx="2606040" cy="2148840"/>
          </a:xfrm>
          <a:prstGeom prst="roundRect">
            <a:avLst>
              <a:gd name="adj" fmla="val 3404"/>
            </a:avLst>
          </a:prstGeom>
          <a:solidFill>
            <a:srgbClr val="FFFFFF"/>
          </a:solidFill>
          <a:ln w="12700">
            <a:solidFill>
              <a:srgbClr val="E1E8ED"/>
            </a:solidFill>
            <a:prstDash val="solid"/>
          </a:ln>
          <a:effectLst>
            <a:outerShdw sx="100000" sy="100000" kx="0" ky="0" algn="bl" rotWithShape="0" blurRad="101600" dist="25400" dir="5400000">
              <a:srgbClr val="1B2733">
                <a:alpha val="12000"/>
              </a:srgbClr>
            </a:outerShdw>
          </a:effectLst>
        </p:spPr>
      </p:sp>
      <p:sp>
        <p:nvSpPr>
          <p:cNvPr id="6" name="Shape 4"/>
          <p:cNvSpPr/>
          <p:nvPr/>
        </p:nvSpPr>
        <p:spPr>
          <a:xfrm>
            <a:off x="914400" y="2240280"/>
            <a:ext cx="594360" cy="594360"/>
          </a:xfrm>
          <a:prstGeom prst="ellipse">
            <a:avLst/>
          </a:prstGeom>
          <a:solidFill>
            <a:srgbClr val="1C7293"/>
          </a:solidFill>
          <a:ln/>
        </p:spPr>
      </p:sp>
      <p:sp>
        <p:nvSpPr>
          <p:cNvPr id="7" name="Text 5"/>
          <p:cNvSpPr txBox="1"/>
          <p:nvPr/>
        </p:nvSpPr>
        <p:spPr>
          <a:xfrm>
            <a:off x="914400" y="2240280"/>
            <a:ext cx="594360" cy="59436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CU</a:t>
            </a:r>
            <a:endParaRPr lang="en-US" sz="1600" dirty="0"/>
          </a:p>
        </p:txBody>
      </p:sp>
      <p:sp>
        <p:nvSpPr>
          <p:cNvPr id="8" name="Text 6"/>
          <p:cNvSpPr txBox="1"/>
          <p:nvPr/>
        </p:nvSpPr>
        <p:spPr>
          <a:xfrm>
            <a:off x="868680" y="2971800"/>
            <a:ext cx="2148840" cy="320040"/>
          </a:xfrm>
          <a:prstGeom prst="rect">
            <a:avLst/>
          </a:prstGeom>
          <a:noFill/>
          <a:ln/>
        </p:spPr>
        <p:txBody>
          <a:bodyPr wrap="square" lIns="0" tIns="0" rIns="0" bIns="0" rtlCol="0" anchor="ctr"/>
          <a:lstStyle/>
          <a:p>
            <a:pPr indent="0" marL="0">
              <a:buNone/>
            </a:pPr>
            <a:r>
              <a:rPr lang="en-US" sz="1600" b="1" dirty="0">
                <a:solidFill>
                  <a:srgbClr val="12355B"/>
                </a:solidFill>
                <a:latin typeface="Calibri" pitchFamily="34" charset="0"/>
                <a:ea typeface="Calibri" pitchFamily="34" charset="-122"/>
                <a:cs typeface="Calibri" pitchFamily="34" charset="-120"/>
              </a:rPr>
              <a:t>CUSP1</a:t>
            </a:r>
            <a:endParaRPr lang="en-US" sz="1600" dirty="0"/>
          </a:p>
        </p:txBody>
      </p:sp>
      <p:sp>
        <p:nvSpPr>
          <p:cNvPr id="9" name="Text 7"/>
          <p:cNvSpPr txBox="1"/>
          <p:nvPr/>
        </p:nvSpPr>
        <p:spPr>
          <a:xfrm>
            <a:off x="868680" y="3291840"/>
            <a:ext cx="2148840" cy="274320"/>
          </a:xfrm>
          <a:prstGeom prst="rect">
            <a:avLst/>
          </a:prstGeom>
          <a:noFill/>
          <a:ln/>
        </p:spPr>
        <p:txBody>
          <a:bodyPr wrap="square" lIns="0" tIns="0" rIns="0" bIns="0" rtlCol="0" anchor="ctr"/>
          <a:lstStyle/>
          <a:p>
            <a:pPr indent="0" marL="0">
              <a:buNone/>
            </a:pPr>
            <a:r>
              <a:rPr lang="en-US" sz="1200" b="1" dirty="0">
                <a:solidFill>
                  <a:srgbClr val="1C7293"/>
                </a:solidFill>
                <a:latin typeface="Calibri" pitchFamily="34" charset="0"/>
                <a:ea typeface="Calibri" pitchFamily="34" charset="-122"/>
                <a:cs typeface="Calibri" pitchFamily="34" charset="-120"/>
              </a:rPr>
              <a:t>Content Uniformity</a:t>
            </a:r>
            <a:endParaRPr lang="en-US" sz="1200" dirty="0"/>
          </a:p>
        </p:txBody>
      </p:sp>
      <p:sp>
        <p:nvSpPr>
          <p:cNvPr id="10" name="Text 8"/>
          <p:cNvSpPr txBox="1"/>
          <p:nvPr/>
        </p:nvSpPr>
        <p:spPr>
          <a:xfrm>
            <a:off x="868680" y="3566160"/>
            <a:ext cx="2148840" cy="502920"/>
          </a:xfrm>
          <a:prstGeom prst="rect">
            <a:avLst/>
          </a:prstGeom>
          <a:noFill/>
          <a:ln/>
        </p:spPr>
        <p:txBody>
          <a:bodyPr wrap="square" lIns="0" tIns="0" rIns="0" bIns="0" rtlCol="0" anchor="ctr"/>
          <a:lstStyle/>
          <a:p>
            <a:pPr indent="0" marL="0">
              <a:buNone/>
            </a:pPr>
            <a:r>
              <a:rPr lang="en-US" sz="1100" dirty="0">
                <a:solidFill>
                  <a:srgbClr val="5C6B79"/>
                </a:solidFill>
                <a:latin typeface="Calibri" pitchFamily="34" charset="0"/>
                <a:ea typeface="Calibri" pitchFamily="34" charset="-122"/>
                <a:cs typeface="Calibri" pitchFamily="34" charset="-120"/>
              </a:rPr>
              <a:t>Single location / composite sample</a:t>
            </a:r>
            <a:endParaRPr lang="en-US" sz="1100" dirty="0"/>
          </a:p>
        </p:txBody>
      </p:sp>
      <p:sp>
        <p:nvSpPr>
          <p:cNvPr id="11" name="Shape 9"/>
          <p:cNvSpPr/>
          <p:nvPr/>
        </p:nvSpPr>
        <p:spPr>
          <a:xfrm>
            <a:off x="3474720" y="1965960"/>
            <a:ext cx="2606040" cy="2148840"/>
          </a:xfrm>
          <a:prstGeom prst="roundRect">
            <a:avLst>
              <a:gd name="adj" fmla="val 3404"/>
            </a:avLst>
          </a:prstGeom>
          <a:solidFill>
            <a:srgbClr val="FFFFFF"/>
          </a:solidFill>
          <a:ln w="12700">
            <a:solidFill>
              <a:srgbClr val="E1E8ED"/>
            </a:solidFill>
            <a:prstDash val="solid"/>
          </a:ln>
          <a:effectLst>
            <a:outerShdw sx="100000" sy="100000" kx="0" ky="0" algn="bl" rotWithShape="0" blurRad="101600" dist="25400" dir="5400000">
              <a:srgbClr val="1B2733">
                <a:alpha val="12000"/>
              </a:srgbClr>
            </a:outerShdw>
          </a:effectLst>
        </p:spPr>
      </p:sp>
      <p:sp>
        <p:nvSpPr>
          <p:cNvPr id="12" name="Shape 10"/>
          <p:cNvSpPr/>
          <p:nvPr/>
        </p:nvSpPr>
        <p:spPr>
          <a:xfrm>
            <a:off x="3749040" y="2240280"/>
            <a:ext cx="594360" cy="594360"/>
          </a:xfrm>
          <a:prstGeom prst="ellipse">
            <a:avLst/>
          </a:prstGeom>
          <a:solidFill>
            <a:srgbClr val="12355B"/>
          </a:solidFill>
          <a:ln/>
        </p:spPr>
      </p:sp>
      <p:sp>
        <p:nvSpPr>
          <p:cNvPr id="13" name="Text 11"/>
          <p:cNvSpPr txBox="1"/>
          <p:nvPr/>
        </p:nvSpPr>
        <p:spPr>
          <a:xfrm>
            <a:off x="3749040" y="2240280"/>
            <a:ext cx="594360" cy="59436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CU</a:t>
            </a:r>
            <a:endParaRPr lang="en-US" sz="1600" dirty="0"/>
          </a:p>
        </p:txBody>
      </p:sp>
      <p:sp>
        <p:nvSpPr>
          <p:cNvPr id="14" name="Text 12"/>
          <p:cNvSpPr txBox="1"/>
          <p:nvPr/>
        </p:nvSpPr>
        <p:spPr>
          <a:xfrm>
            <a:off x="3703320" y="2971800"/>
            <a:ext cx="2148840" cy="320040"/>
          </a:xfrm>
          <a:prstGeom prst="rect">
            <a:avLst/>
          </a:prstGeom>
          <a:noFill/>
          <a:ln/>
        </p:spPr>
        <p:txBody>
          <a:bodyPr wrap="square" lIns="0" tIns="0" rIns="0" bIns="0" rtlCol="0" anchor="ctr"/>
          <a:lstStyle/>
          <a:p>
            <a:pPr indent="0" marL="0">
              <a:buNone/>
            </a:pPr>
            <a:r>
              <a:rPr lang="en-US" sz="1600" b="1" dirty="0">
                <a:solidFill>
                  <a:srgbClr val="12355B"/>
                </a:solidFill>
                <a:latin typeface="Calibri" pitchFamily="34" charset="0"/>
                <a:ea typeface="Calibri" pitchFamily="34" charset="-122"/>
                <a:cs typeface="Calibri" pitchFamily="34" charset="-120"/>
              </a:rPr>
              <a:t>CUSP2</a:t>
            </a:r>
            <a:endParaRPr lang="en-US" sz="1600" dirty="0"/>
          </a:p>
        </p:txBody>
      </p:sp>
      <p:sp>
        <p:nvSpPr>
          <p:cNvPr id="15" name="Text 13"/>
          <p:cNvSpPr txBox="1"/>
          <p:nvPr/>
        </p:nvSpPr>
        <p:spPr>
          <a:xfrm>
            <a:off x="3703320" y="3291840"/>
            <a:ext cx="2148840" cy="274320"/>
          </a:xfrm>
          <a:prstGeom prst="rect">
            <a:avLst/>
          </a:prstGeom>
          <a:noFill/>
          <a:ln/>
        </p:spPr>
        <p:txBody>
          <a:bodyPr wrap="square" lIns="0" tIns="0" rIns="0" bIns="0" rtlCol="0" anchor="ctr"/>
          <a:lstStyle/>
          <a:p>
            <a:pPr indent="0" marL="0">
              <a:buNone/>
            </a:pPr>
            <a:r>
              <a:rPr lang="en-US" sz="1200" b="1" dirty="0">
                <a:solidFill>
                  <a:srgbClr val="12355B"/>
                </a:solidFill>
                <a:latin typeface="Calibri" pitchFamily="34" charset="0"/>
                <a:ea typeface="Calibri" pitchFamily="34" charset="-122"/>
                <a:cs typeface="Calibri" pitchFamily="34" charset="-120"/>
              </a:rPr>
              <a:t>Content Uniformity</a:t>
            </a:r>
            <a:endParaRPr lang="en-US" sz="1200" dirty="0"/>
          </a:p>
        </p:txBody>
      </p:sp>
      <p:sp>
        <p:nvSpPr>
          <p:cNvPr id="16" name="Text 14"/>
          <p:cNvSpPr txBox="1"/>
          <p:nvPr/>
        </p:nvSpPr>
        <p:spPr>
          <a:xfrm>
            <a:off x="3703320" y="3566160"/>
            <a:ext cx="2148840" cy="502920"/>
          </a:xfrm>
          <a:prstGeom prst="rect">
            <a:avLst/>
          </a:prstGeom>
          <a:noFill/>
          <a:ln/>
        </p:spPr>
        <p:txBody>
          <a:bodyPr wrap="square" lIns="0" tIns="0" rIns="0" bIns="0" rtlCol="0" anchor="ctr"/>
          <a:lstStyle/>
          <a:p>
            <a:pPr indent="0" marL="0">
              <a:buNone/>
            </a:pPr>
            <a:r>
              <a:rPr lang="en-US" sz="1100" dirty="0">
                <a:solidFill>
                  <a:srgbClr val="5C6B79"/>
                </a:solidFill>
                <a:latin typeface="Calibri" pitchFamily="34" charset="0"/>
                <a:ea typeface="Calibri" pitchFamily="34" charset="-122"/>
                <a:cs typeface="Calibri" pitchFamily="34" charset="-120"/>
              </a:rPr>
              <a:t>Multiple locations — variance components</a:t>
            </a:r>
            <a:endParaRPr lang="en-US" sz="1100" dirty="0"/>
          </a:p>
        </p:txBody>
      </p:sp>
      <p:sp>
        <p:nvSpPr>
          <p:cNvPr id="17" name="Shape 15"/>
          <p:cNvSpPr/>
          <p:nvPr/>
        </p:nvSpPr>
        <p:spPr>
          <a:xfrm>
            <a:off x="6309360" y="1965960"/>
            <a:ext cx="2606040" cy="2148840"/>
          </a:xfrm>
          <a:prstGeom prst="roundRect">
            <a:avLst>
              <a:gd name="adj" fmla="val 3404"/>
            </a:avLst>
          </a:prstGeom>
          <a:solidFill>
            <a:srgbClr val="FFFFFF"/>
          </a:solidFill>
          <a:ln w="12700">
            <a:solidFill>
              <a:srgbClr val="E1E8ED"/>
            </a:solidFill>
            <a:prstDash val="solid"/>
          </a:ln>
          <a:effectLst>
            <a:outerShdw sx="100000" sy="100000" kx="0" ky="0" algn="bl" rotWithShape="0" blurRad="101600" dist="25400" dir="5400000">
              <a:srgbClr val="1B2733">
                <a:alpha val="12000"/>
              </a:srgbClr>
            </a:outerShdw>
          </a:effectLst>
        </p:spPr>
      </p:sp>
      <p:sp>
        <p:nvSpPr>
          <p:cNvPr id="18" name="Shape 16"/>
          <p:cNvSpPr/>
          <p:nvPr/>
        </p:nvSpPr>
        <p:spPr>
          <a:xfrm>
            <a:off x="6583680" y="2240280"/>
            <a:ext cx="594360" cy="594360"/>
          </a:xfrm>
          <a:prstGeom prst="ellipse">
            <a:avLst/>
          </a:prstGeom>
          <a:solidFill>
            <a:srgbClr val="1C7293"/>
          </a:solidFill>
          <a:ln/>
        </p:spPr>
      </p:sp>
      <p:sp>
        <p:nvSpPr>
          <p:cNvPr id="19" name="Text 17"/>
          <p:cNvSpPr txBox="1"/>
          <p:nvPr/>
        </p:nvSpPr>
        <p:spPr>
          <a:xfrm>
            <a:off x="6583680" y="2240280"/>
            <a:ext cx="594360" cy="59436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DI</a:t>
            </a:r>
            <a:endParaRPr lang="en-US" sz="1600" dirty="0"/>
          </a:p>
        </p:txBody>
      </p:sp>
      <p:sp>
        <p:nvSpPr>
          <p:cNvPr id="20" name="Text 18"/>
          <p:cNvSpPr txBox="1"/>
          <p:nvPr/>
        </p:nvSpPr>
        <p:spPr>
          <a:xfrm>
            <a:off x="6537960" y="2971800"/>
            <a:ext cx="2148840" cy="320040"/>
          </a:xfrm>
          <a:prstGeom prst="rect">
            <a:avLst/>
          </a:prstGeom>
          <a:noFill/>
          <a:ln/>
        </p:spPr>
        <p:txBody>
          <a:bodyPr wrap="square" lIns="0" tIns="0" rIns="0" bIns="0" rtlCol="0" anchor="ctr"/>
          <a:lstStyle/>
          <a:p>
            <a:pPr indent="0" marL="0">
              <a:buNone/>
            </a:pPr>
            <a:r>
              <a:rPr lang="en-US" sz="1600" b="1" dirty="0">
                <a:solidFill>
                  <a:srgbClr val="12355B"/>
                </a:solidFill>
                <a:latin typeface="Calibri" pitchFamily="34" charset="0"/>
                <a:ea typeface="Calibri" pitchFamily="34" charset="-122"/>
                <a:cs typeface="Calibri" pitchFamily="34" charset="-120"/>
              </a:rPr>
              <a:t>DISP1</a:t>
            </a:r>
            <a:endParaRPr lang="en-US" sz="1600" dirty="0"/>
          </a:p>
        </p:txBody>
      </p:sp>
      <p:sp>
        <p:nvSpPr>
          <p:cNvPr id="21" name="Text 19"/>
          <p:cNvSpPr txBox="1"/>
          <p:nvPr/>
        </p:nvSpPr>
        <p:spPr>
          <a:xfrm>
            <a:off x="6537960" y="3291840"/>
            <a:ext cx="2148840" cy="274320"/>
          </a:xfrm>
          <a:prstGeom prst="rect">
            <a:avLst/>
          </a:prstGeom>
          <a:noFill/>
          <a:ln/>
        </p:spPr>
        <p:txBody>
          <a:bodyPr wrap="square" lIns="0" tIns="0" rIns="0" bIns="0" rtlCol="0" anchor="ctr"/>
          <a:lstStyle/>
          <a:p>
            <a:pPr indent="0" marL="0">
              <a:buNone/>
            </a:pPr>
            <a:r>
              <a:rPr lang="en-US" sz="1200" b="1" dirty="0">
                <a:solidFill>
                  <a:srgbClr val="1C7293"/>
                </a:solidFill>
                <a:latin typeface="Calibri" pitchFamily="34" charset="0"/>
                <a:ea typeface="Calibri" pitchFamily="34" charset="-122"/>
                <a:cs typeface="Calibri" pitchFamily="34" charset="-120"/>
              </a:rPr>
              <a:t>Dissolution</a:t>
            </a:r>
            <a:endParaRPr lang="en-US" sz="1200" dirty="0"/>
          </a:p>
        </p:txBody>
      </p:sp>
      <p:sp>
        <p:nvSpPr>
          <p:cNvPr id="22" name="Text 20"/>
          <p:cNvSpPr txBox="1"/>
          <p:nvPr/>
        </p:nvSpPr>
        <p:spPr>
          <a:xfrm>
            <a:off x="6537960" y="3566160"/>
            <a:ext cx="2148840" cy="502920"/>
          </a:xfrm>
          <a:prstGeom prst="rect">
            <a:avLst/>
          </a:prstGeom>
          <a:noFill/>
          <a:ln/>
        </p:spPr>
        <p:txBody>
          <a:bodyPr wrap="square" lIns="0" tIns="0" rIns="0" bIns="0" rtlCol="0" anchor="ctr"/>
          <a:lstStyle/>
          <a:p>
            <a:pPr indent="0" marL="0">
              <a:buNone/>
            </a:pPr>
            <a:r>
              <a:rPr lang="en-US" sz="1100" dirty="0">
                <a:solidFill>
                  <a:srgbClr val="5C6B79"/>
                </a:solidFill>
                <a:latin typeface="Calibri" pitchFamily="34" charset="0"/>
                <a:ea typeface="Calibri" pitchFamily="34" charset="-122"/>
                <a:cs typeface="Calibri" pitchFamily="34" charset="-120"/>
              </a:rPr>
              <a:t>Single location</a:t>
            </a:r>
            <a:endParaRPr lang="en-US" sz="1100" dirty="0"/>
          </a:p>
        </p:txBody>
      </p:sp>
      <p:sp>
        <p:nvSpPr>
          <p:cNvPr id="23" name="Shape 21"/>
          <p:cNvSpPr/>
          <p:nvPr/>
        </p:nvSpPr>
        <p:spPr>
          <a:xfrm>
            <a:off x="9144000" y="1965960"/>
            <a:ext cx="2606040" cy="2148840"/>
          </a:xfrm>
          <a:prstGeom prst="roundRect">
            <a:avLst>
              <a:gd name="adj" fmla="val 3404"/>
            </a:avLst>
          </a:prstGeom>
          <a:solidFill>
            <a:srgbClr val="FFFFFF"/>
          </a:solidFill>
          <a:ln w="12700">
            <a:solidFill>
              <a:srgbClr val="E1E8ED"/>
            </a:solidFill>
            <a:prstDash val="solid"/>
          </a:ln>
          <a:effectLst>
            <a:outerShdw sx="100000" sy="100000" kx="0" ky="0" algn="bl" rotWithShape="0" blurRad="101600" dist="25400" dir="5400000">
              <a:srgbClr val="1B2733">
                <a:alpha val="12000"/>
              </a:srgbClr>
            </a:outerShdw>
          </a:effectLst>
        </p:spPr>
      </p:sp>
      <p:sp>
        <p:nvSpPr>
          <p:cNvPr id="24" name="Shape 22"/>
          <p:cNvSpPr/>
          <p:nvPr/>
        </p:nvSpPr>
        <p:spPr>
          <a:xfrm>
            <a:off x="9418320" y="2240280"/>
            <a:ext cx="594360" cy="594360"/>
          </a:xfrm>
          <a:prstGeom prst="ellipse">
            <a:avLst/>
          </a:prstGeom>
          <a:solidFill>
            <a:srgbClr val="12355B"/>
          </a:solidFill>
          <a:ln/>
        </p:spPr>
      </p:sp>
      <p:sp>
        <p:nvSpPr>
          <p:cNvPr id="25" name="Text 23"/>
          <p:cNvSpPr txBox="1"/>
          <p:nvPr/>
        </p:nvSpPr>
        <p:spPr>
          <a:xfrm>
            <a:off x="9418320" y="2240280"/>
            <a:ext cx="594360" cy="59436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DI</a:t>
            </a:r>
            <a:endParaRPr lang="en-US" sz="1600" dirty="0"/>
          </a:p>
        </p:txBody>
      </p:sp>
      <p:sp>
        <p:nvSpPr>
          <p:cNvPr id="26" name="Text 24"/>
          <p:cNvSpPr txBox="1"/>
          <p:nvPr/>
        </p:nvSpPr>
        <p:spPr>
          <a:xfrm>
            <a:off x="9372600" y="2971800"/>
            <a:ext cx="2148840" cy="320040"/>
          </a:xfrm>
          <a:prstGeom prst="rect">
            <a:avLst/>
          </a:prstGeom>
          <a:noFill/>
          <a:ln/>
        </p:spPr>
        <p:txBody>
          <a:bodyPr wrap="square" lIns="0" tIns="0" rIns="0" bIns="0" rtlCol="0" anchor="ctr"/>
          <a:lstStyle/>
          <a:p>
            <a:pPr indent="0" marL="0">
              <a:buNone/>
            </a:pPr>
            <a:r>
              <a:rPr lang="en-US" sz="1600" b="1" dirty="0">
                <a:solidFill>
                  <a:srgbClr val="12355B"/>
                </a:solidFill>
                <a:latin typeface="Calibri" pitchFamily="34" charset="0"/>
                <a:ea typeface="Calibri" pitchFamily="34" charset="-122"/>
                <a:cs typeface="Calibri" pitchFamily="34" charset="-120"/>
              </a:rPr>
              <a:t>DISP2</a:t>
            </a:r>
            <a:endParaRPr lang="en-US" sz="1600" dirty="0"/>
          </a:p>
        </p:txBody>
      </p:sp>
      <p:sp>
        <p:nvSpPr>
          <p:cNvPr id="27" name="Text 25"/>
          <p:cNvSpPr txBox="1"/>
          <p:nvPr/>
        </p:nvSpPr>
        <p:spPr>
          <a:xfrm>
            <a:off x="9372600" y="3291840"/>
            <a:ext cx="2148840" cy="274320"/>
          </a:xfrm>
          <a:prstGeom prst="rect">
            <a:avLst/>
          </a:prstGeom>
          <a:noFill/>
          <a:ln/>
        </p:spPr>
        <p:txBody>
          <a:bodyPr wrap="square" lIns="0" tIns="0" rIns="0" bIns="0" rtlCol="0" anchor="ctr"/>
          <a:lstStyle/>
          <a:p>
            <a:pPr indent="0" marL="0">
              <a:buNone/>
            </a:pPr>
            <a:r>
              <a:rPr lang="en-US" sz="1200" b="1" dirty="0">
                <a:solidFill>
                  <a:srgbClr val="12355B"/>
                </a:solidFill>
                <a:latin typeface="Calibri" pitchFamily="34" charset="0"/>
                <a:ea typeface="Calibri" pitchFamily="34" charset="-122"/>
                <a:cs typeface="Calibri" pitchFamily="34" charset="-120"/>
              </a:rPr>
              <a:t>Dissolution</a:t>
            </a:r>
            <a:endParaRPr lang="en-US" sz="1200" dirty="0"/>
          </a:p>
        </p:txBody>
      </p:sp>
      <p:sp>
        <p:nvSpPr>
          <p:cNvPr id="28" name="Text 26"/>
          <p:cNvSpPr txBox="1"/>
          <p:nvPr/>
        </p:nvSpPr>
        <p:spPr>
          <a:xfrm>
            <a:off x="9372600" y="3566160"/>
            <a:ext cx="2148840" cy="502920"/>
          </a:xfrm>
          <a:prstGeom prst="rect">
            <a:avLst/>
          </a:prstGeom>
          <a:noFill/>
          <a:ln/>
        </p:spPr>
        <p:txBody>
          <a:bodyPr wrap="square" lIns="0" tIns="0" rIns="0" bIns="0" rtlCol="0" anchor="ctr"/>
          <a:lstStyle/>
          <a:p>
            <a:pPr indent="0" marL="0">
              <a:buNone/>
            </a:pPr>
            <a:r>
              <a:rPr lang="en-US" sz="1100" dirty="0">
                <a:solidFill>
                  <a:srgbClr val="5C6B79"/>
                </a:solidFill>
                <a:latin typeface="Calibri" pitchFamily="34" charset="0"/>
                <a:ea typeface="Calibri" pitchFamily="34" charset="-122"/>
                <a:cs typeface="Calibri" pitchFamily="34" charset="-120"/>
              </a:rPr>
              <a:t>Multiple locations — variance components</a:t>
            </a:r>
            <a:endParaRPr lang="en-US" sz="1100" dirty="0"/>
          </a:p>
        </p:txBody>
      </p:sp>
      <p:sp>
        <p:nvSpPr>
          <p:cNvPr id="29" name="Text 27"/>
          <p:cNvSpPr txBox="1"/>
          <p:nvPr/>
        </p:nvSpPr>
        <p:spPr>
          <a:xfrm>
            <a:off x="640080" y="4572000"/>
            <a:ext cx="5486400" cy="365760"/>
          </a:xfrm>
          <a:prstGeom prst="rect">
            <a:avLst/>
          </a:prstGeom>
          <a:noFill/>
          <a:ln/>
        </p:spPr>
        <p:txBody>
          <a:bodyPr wrap="square" lIns="0" tIns="0" rIns="0" bIns="0" rtlCol="0" anchor="ctr"/>
          <a:lstStyle/>
          <a:p>
            <a:pPr indent="0" marL="0">
              <a:buNone/>
            </a:pPr>
            <a:r>
              <a:rPr lang="en-US" sz="1500" b="1" dirty="0">
                <a:solidFill>
                  <a:srgbClr val="16232E"/>
                </a:solidFill>
                <a:latin typeface="Calibri" pitchFamily="34" charset="0"/>
                <a:ea typeface="Calibri" pitchFamily="34" charset="-122"/>
                <a:cs typeface="Calibri" pitchFamily="34" charset="-120"/>
              </a:rPr>
              <a:t>Every module supports the same three analysis modes:</a:t>
            </a:r>
            <a:endParaRPr lang="en-US" sz="1500" dirty="0"/>
          </a:p>
        </p:txBody>
      </p:sp>
      <p:sp>
        <p:nvSpPr>
          <p:cNvPr id="30" name="Shape 28"/>
          <p:cNvSpPr/>
          <p:nvPr/>
        </p:nvSpPr>
        <p:spPr>
          <a:xfrm>
            <a:off x="640080" y="5074920"/>
            <a:ext cx="3566160" cy="502920"/>
          </a:xfrm>
          <a:prstGeom prst="roundRect">
            <a:avLst>
              <a:gd name="adj" fmla="val 50000"/>
            </a:avLst>
          </a:prstGeom>
          <a:solidFill>
            <a:srgbClr val="12355B"/>
          </a:solidFill>
          <a:ln/>
        </p:spPr>
      </p:sp>
      <p:sp>
        <p:nvSpPr>
          <p:cNvPr id="31" name="Text 29"/>
          <p:cNvSpPr txBox="1"/>
          <p:nvPr/>
        </p:nvSpPr>
        <p:spPr>
          <a:xfrm>
            <a:off x="640080" y="5074920"/>
            <a:ext cx="3566160"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Acceptance-Limit Table</a:t>
            </a:r>
            <a:endParaRPr lang="en-US" sz="1200" dirty="0"/>
          </a:p>
        </p:txBody>
      </p:sp>
      <p:sp>
        <p:nvSpPr>
          <p:cNvPr id="32" name="Shape 30"/>
          <p:cNvSpPr/>
          <p:nvPr/>
        </p:nvSpPr>
        <p:spPr>
          <a:xfrm>
            <a:off x="4434840" y="5074920"/>
            <a:ext cx="3566160" cy="502920"/>
          </a:xfrm>
          <a:prstGeom prst="roundRect">
            <a:avLst>
              <a:gd name="adj" fmla="val 50000"/>
            </a:avLst>
          </a:prstGeom>
          <a:solidFill>
            <a:srgbClr val="1C7293"/>
          </a:solidFill>
          <a:ln/>
        </p:spPr>
      </p:sp>
      <p:sp>
        <p:nvSpPr>
          <p:cNvPr id="33" name="Text 31"/>
          <p:cNvSpPr txBox="1"/>
          <p:nvPr/>
        </p:nvSpPr>
        <p:spPr>
          <a:xfrm>
            <a:off x="4434840" y="5074920"/>
            <a:ext cx="3566160"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Probability of Passing</a:t>
            </a:r>
            <a:endParaRPr lang="en-US" sz="1200" dirty="0"/>
          </a:p>
        </p:txBody>
      </p:sp>
      <p:sp>
        <p:nvSpPr>
          <p:cNvPr id="34" name="Shape 32"/>
          <p:cNvSpPr/>
          <p:nvPr/>
        </p:nvSpPr>
        <p:spPr>
          <a:xfrm>
            <a:off x="8229600" y="5074920"/>
            <a:ext cx="3566160" cy="502920"/>
          </a:xfrm>
          <a:prstGeom prst="roundRect">
            <a:avLst>
              <a:gd name="adj" fmla="val 50000"/>
            </a:avLst>
          </a:prstGeom>
          <a:solidFill>
            <a:srgbClr val="12355B"/>
          </a:solidFill>
          <a:ln/>
        </p:spPr>
      </p:sp>
      <p:sp>
        <p:nvSpPr>
          <p:cNvPr id="35" name="Text 33"/>
          <p:cNvSpPr txBox="1"/>
          <p:nvPr/>
        </p:nvSpPr>
        <p:spPr>
          <a:xfrm>
            <a:off x="8229600" y="5074920"/>
            <a:ext cx="3566160"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Sample Probability</a:t>
            </a:r>
            <a:endParaRPr lang="en-US" sz="1200" dirty="0"/>
          </a:p>
        </p:txBody>
      </p:sp>
      <p:sp>
        <p:nvSpPr>
          <p:cNvPr id="36" name="Text 34"/>
          <p:cNvSpPr txBox="1"/>
          <p:nvPr/>
        </p:nvSpPr>
        <p:spPr>
          <a:xfrm>
            <a:off x="11548872" y="6446520"/>
            <a:ext cx="365760" cy="274320"/>
          </a:xfrm>
          <a:prstGeom prst="rect">
            <a:avLst/>
          </a:prstGeom>
          <a:noFill/>
          <a:ln/>
        </p:spPr>
        <p:txBody>
          <a:bodyPr wrap="square" lIns="0" tIns="0" rIns="0" bIns="0" rtlCol="0" anchor="ctr"/>
          <a:lstStyle/>
          <a:p>
            <a:pPr algn="r" indent="0" marL="0">
              <a:buNone/>
            </a:pPr>
            <a:r>
              <a:rPr lang="en-US" sz="1000" dirty="0">
                <a:solidFill>
                  <a:srgbClr val="5C6B79"/>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5F8FA"/>
          </a:solidFill>
          <a:ln/>
        </p:spPr>
      </p:sp>
      <p:sp>
        <p:nvSpPr>
          <p:cNvPr id="3" name="Text 1"/>
          <p:cNvSpPr txBox="1"/>
          <p:nvPr/>
        </p:nvSpPr>
        <p:spPr>
          <a:xfrm>
            <a:off x="640080" y="457200"/>
            <a:ext cx="7315200" cy="320040"/>
          </a:xfrm>
          <a:prstGeom prst="rect">
            <a:avLst/>
          </a:prstGeom>
          <a:noFill/>
          <a:ln/>
        </p:spPr>
        <p:txBody>
          <a:bodyPr wrap="square" lIns="0" tIns="0" rIns="0" bIns="0" rtlCol="0" anchor="ctr"/>
          <a:lstStyle/>
          <a:p>
            <a:pPr indent="0" marL="0">
              <a:buNone/>
            </a:pPr>
            <a:r>
              <a:rPr lang="en-US" sz="1300" b="1" spc="200" kern="0" dirty="0">
                <a:solidFill>
                  <a:srgbClr val="F2A541"/>
                </a:solidFill>
                <a:latin typeface="Calibri" pitchFamily="34" charset="0"/>
                <a:ea typeface="Calibri" pitchFamily="34" charset="-122"/>
                <a:cs typeface="Calibri" pitchFamily="34" charset="-120"/>
              </a:rPr>
              <a:t>THE SCIENCE</a:t>
            </a:r>
            <a:endParaRPr lang="en-US" sz="1300" dirty="0"/>
          </a:p>
        </p:txBody>
      </p:sp>
      <p:sp>
        <p:nvSpPr>
          <p:cNvPr id="4" name="Text 2"/>
          <p:cNvSpPr txBox="1"/>
          <p:nvPr/>
        </p:nvSpPr>
        <p:spPr>
          <a:xfrm>
            <a:off x="640080" y="777240"/>
            <a:ext cx="10515600" cy="822960"/>
          </a:xfrm>
          <a:prstGeom prst="rect">
            <a:avLst/>
          </a:prstGeom>
          <a:noFill/>
          <a:ln/>
        </p:spPr>
        <p:txBody>
          <a:bodyPr wrap="square" lIns="0" tIns="0" rIns="0" bIns="0" rtlCol="0" anchor="ctr"/>
          <a:lstStyle/>
          <a:p>
            <a:pPr indent="0" marL="0">
              <a:buNone/>
            </a:pPr>
            <a:r>
              <a:rPr lang="en-US" sz="3400" b="1" dirty="0">
                <a:solidFill>
                  <a:srgbClr val="12355B"/>
                </a:solidFill>
                <a:latin typeface="Cambria" pitchFamily="34" charset="0"/>
                <a:ea typeface="Cambria" pitchFamily="34" charset="-122"/>
                <a:cs typeface="Cambria" pitchFamily="34" charset="-120"/>
              </a:rPr>
              <a:t>Built on Rigorous, Published Statistics</a:t>
            </a:r>
            <a:endParaRPr lang="en-US" sz="3400" dirty="0"/>
          </a:p>
        </p:txBody>
      </p:sp>
      <p:sp>
        <p:nvSpPr>
          <p:cNvPr id="5" name="Text 3"/>
          <p:cNvSpPr txBox="1"/>
          <p:nvPr/>
        </p:nvSpPr>
        <p:spPr>
          <a:xfrm>
            <a:off x="640080" y="2011680"/>
            <a:ext cx="6035040" cy="4114800"/>
          </a:xfrm>
          <a:prstGeom prst="rect">
            <a:avLst/>
          </a:prstGeom>
          <a:noFill/>
          <a:ln/>
        </p:spPr>
        <p:txBody>
          <a:bodyPr wrap="square" lIns="0" tIns="0" rIns="0" bIns="0" rtlCol="0" anchor="t"/>
          <a:lstStyle/>
          <a:p>
            <a:pPr marL="228600" indent="-228600">
              <a:spcAft>
                <a:spcPts val="1800"/>
              </a:spcAft>
              <a:buSzPct val="100000"/>
              <a:buChar char="•"/>
            </a:pPr>
            <a:r>
              <a:rPr lang="en-US" sz="1500" dirty="0">
                <a:solidFill>
                  <a:srgbClr val="16232E"/>
                </a:solidFill>
                <a:latin typeface="Calibri" pitchFamily="34" charset="0"/>
                <a:ea typeface="Calibri" pitchFamily="34" charset="-122"/>
                <a:cs typeface="Calibri" pitchFamily="34" charset="-120"/>
              </a:rPr>
              <a:t>Every formula traces back to classical sampling theory — starting from Cochran's theorem: the sample mean and sample variance are independent and each follows a known distribution.</a:t>
            </a:r>
            <a:endParaRPr lang="en-US" sz="1500" dirty="0"/>
          </a:p>
          <a:p>
            <a:pPr marL="228600" indent="-228600">
              <a:spcAft>
                <a:spcPts val="1800"/>
              </a:spcAft>
              <a:buSzPct val="100000"/>
              <a:buChar char="•"/>
            </a:pPr>
            <a:r>
              <a:rPr lang="en-US" sz="1500" dirty="0">
                <a:solidFill>
                  <a:srgbClr val="16232E"/>
                </a:solidFill>
                <a:latin typeface="Calibri" pitchFamily="34" charset="0"/>
                <a:ea typeface="Calibri" pitchFamily="34" charset="-122"/>
                <a:cs typeface="Calibri" pitchFamily="34" charset="-120"/>
              </a:rPr>
              <a:t>This is the same family of methods as ASTM E2709 / E2810 — parametric tolerance intervals for compendial testing.</a:t>
            </a:r>
            <a:endParaRPr lang="en-US" sz="1500" dirty="0"/>
          </a:p>
          <a:p>
            <a:pPr marL="228600" indent="-228600">
              <a:spcAft>
                <a:spcPts val="1800"/>
              </a:spcAft>
              <a:buSzPct val="100000"/>
              <a:buChar char="•"/>
            </a:pPr>
            <a:r>
              <a:rPr lang="en-US" sz="1500" dirty="0">
                <a:solidFill>
                  <a:srgbClr val="16232E"/>
                </a:solidFill>
                <a:latin typeface="Calibri" pitchFamily="34" charset="0"/>
                <a:ea typeface="Calibri" pitchFamily="34" charset="-122"/>
                <a:cs typeface="Calibri" pitchFamily="34" charset="-120"/>
              </a:rPr>
              <a:t>Bonferroni-style inequalities keep every result a guaranteed conservative bound, not just a point estimate — that's why the code calls it “OVERBD,” not “probability.”</a:t>
            </a:r>
            <a:endParaRPr lang="en-US" sz="1500" dirty="0"/>
          </a:p>
        </p:txBody>
      </p:sp>
      <p:sp>
        <p:nvSpPr>
          <p:cNvPr id="6" name="Shape 4"/>
          <p:cNvSpPr/>
          <p:nvPr/>
        </p:nvSpPr>
        <p:spPr>
          <a:xfrm>
            <a:off x="7040880" y="2286000"/>
            <a:ext cx="1417320" cy="1005840"/>
          </a:xfrm>
          <a:prstGeom prst="roundRect">
            <a:avLst>
              <a:gd name="adj" fmla="val 7273"/>
            </a:avLst>
          </a:prstGeom>
          <a:solidFill>
            <a:srgbClr val="FFFFFF"/>
          </a:solidFill>
          <a:ln w="12700">
            <a:solidFill>
              <a:srgbClr val="E1E8ED"/>
            </a:solidFill>
            <a:prstDash val="solid"/>
          </a:ln>
          <a:effectLst>
            <a:outerShdw sx="100000" sy="100000" kx="0" ky="0" algn="bl" rotWithShape="0" blurRad="101600" dist="25400" dir="5400000">
              <a:srgbClr val="1B2733">
                <a:alpha val="12000"/>
              </a:srgbClr>
            </a:outerShdw>
          </a:effectLst>
        </p:spPr>
      </p:sp>
      <p:sp>
        <p:nvSpPr>
          <p:cNvPr id="7" name="Text 5"/>
          <p:cNvSpPr txBox="1"/>
          <p:nvPr/>
        </p:nvSpPr>
        <p:spPr>
          <a:xfrm>
            <a:off x="7040880" y="2286000"/>
            <a:ext cx="1417320" cy="1005840"/>
          </a:xfrm>
          <a:prstGeom prst="rect">
            <a:avLst/>
          </a:prstGeom>
          <a:noFill/>
          <a:ln/>
        </p:spPr>
        <p:txBody>
          <a:bodyPr wrap="square" lIns="0" tIns="0" rIns="0" bIns="0" rtlCol="0" anchor="ctr"/>
          <a:lstStyle/>
          <a:p>
            <a:pPr algn="ctr" indent="0" marL="0">
              <a:buNone/>
            </a:pPr>
            <a:r>
              <a:rPr lang="en-US" sz="1250" b="1" dirty="0">
                <a:solidFill>
                  <a:srgbClr val="12355B"/>
                </a:solidFill>
                <a:latin typeface="Calibri" pitchFamily="34" charset="0"/>
                <a:ea typeface="Calibri" pitchFamily="34" charset="-122"/>
                <a:cs typeface="Calibri" pitchFamily="34" charset="-120"/>
              </a:rPr>
              <a:t>Sample</a:t>
            </a:r>
            <a:endParaRPr lang="en-US" sz="1250" dirty="0"/>
          </a:p>
          <a:p>
            <a:pPr algn="ctr" indent="0" marL="0">
              <a:buNone/>
            </a:pPr>
            <a:r>
              <a:rPr lang="en-US" sz="1250" b="1" dirty="0">
                <a:solidFill>
                  <a:srgbClr val="12355B"/>
                </a:solidFill>
                <a:latin typeface="Calibri" pitchFamily="34" charset="0"/>
                <a:ea typeface="Calibri" pitchFamily="34" charset="-122"/>
                <a:cs typeface="Calibri" pitchFamily="34" charset="-120"/>
              </a:rPr>
              <a:t>Data</a:t>
            </a:r>
            <a:endParaRPr lang="en-US" sz="1250" dirty="0"/>
          </a:p>
        </p:txBody>
      </p:sp>
      <p:sp>
        <p:nvSpPr>
          <p:cNvPr id="8" name="Text 6"/>
          <p:cNvSpPr txBox="1"/>
          <p:nvPr/>
        </p:nvSpPr>
        <p:spPr>
          <a:xfrm>
            <a:off x="8458200" y="2286000"/>
            <a:ext cx="502920" cy="1005840"/>
          </a:xfrm>
          <a:prstGeom prst="rect">
            <a:avLst/>
          </a:prstGeom>
          <a:noFill/>
          <a:ln/>
        </p:spPr>
        <p:txBody>
          <a:bodyPr wrap="square" lIns="0" tIns="0" rIns="0" bIns="0" rtlCol="0" anchor="ctr"/>
          <a:lstStyle/>
          <a:p>
            <a:pPr algn="ctr" indent="0" marL="0">
              <a:buNone/>
            </a:pPr>
            <a:r>
              <a:rPr lang="en-US" sz="2200" b="1" dirty="0">
                <a:solidFill>
                  <a:srgbClr val="F2A541"/>
                </a:solidFill>
                <a:latin typeface="Calibri" pitchFamily="34" charset="0"/>
                <a:ea typeface="Calibri" pitchFamily="34" charset="-122"/>
                <a:cs typeface="Calibri" pitchFamily="34" charset="-120"/>
              </a:rPr>
              <a:t>→</a:t>
            </a:r>
            <a:endParaRPr lang="en-US" sz="2200" dirty="0"/>
          </a:p>
        </p:txBody>
      </p:sp>
      <p:sp>
        <p:nvSpPr>
          <p:cNvPr id="9" name="Shape 7"/>
          <p:cNvSpPr/>
          <p:nvPr/>
        </p:nvSpPr>
        <p:spPr>
          <a:xfrm>
            <a:off x="8961120" y="2286000"/>
            <a:ext cx="1417320" cy="1005840"/>
          </a:xfrm>
          <a:prstGeom prst="roundRect">
            <a:avLst>
              <a:gd name="adj" fmla="val 7273"/>
            </a:avLst>
          </a:prstGeom>
          <a:solidFill>
            <a:srgbClr val="FFFFFF"/>
          </a:solidFill>
          <a:ln w="12700">
            <a:solidFill>
              <a:srgbClr val="E1E8ED"/>
            </a:solidFill>
            <a:prstDash val="solid"/>
          </a:ln>
          <a:effectLst>
            <a:outerShdw sx="100000" sy="100000" kx="0" ky="0" algn="bl" rotWithShape="0" blurRad="101600" dist="25400" dir="5400000">
              <a:srgbClr val="1B2733">
                <a:alpha val="12000"/>
              </a:srgbClr>
            </a:outerShdw>
          </a:effectLst>
        </p:spPr>
      </p:sp>
      <p:sp>
        <p:nvSpPr>
          <p:cNvPr id="10" name="Text 8"/>
          <p:cNvSpPr txBox="1"/>
          <p:nvPr/>
        </p:nvSpPr>
        <p:spPr>
          <a:xfrm>
            <a:off x="8961120" y="2286000"/>
            <a:ext cx="1417320" cy="1005840"/>
          </a:xfrm>
          <a:prstGeom prst="rect">
            <a:avLst/>
          </a:prstGeom>
          <a:noFill/>
          <a:ln/>
        </p:spPr>
        <p:txBody>
          <a:bodyPr wrap="square" lIns="0" tIns="0" rIns="0" bIns="0" rtlCol="0" anchor="ctr"/>
          <a:lstStyle/>
          <a:p>
            <a:pPr algn="ctr" indent="0" marL="0">
              <a:buNone/>
            </a:pPr>
            <a:r>
              <a:rPr lang="en-US" sz="1250" b="1" dirty="0">
                <a:solidFill>
                  <a:srgbClr val="12355B"/>
                </a:solidFill>
                <a:latin typeface="Calibri" pitchFamily="34" charset="0"/>
                <a:ea typeface="Calibri" pitchFamily="34" charset="-122"/>
                <a:cs typeface="Calibri" pitchFamily="34" charset="-120"/>
              </a:rPr>
              <a:t>Statistical</a:t>
            </a:r>
            <a:endParaRPr lang="en-US" sz="1250" dirty="0"/>
          </a:p>
          <a:p>
            <a:pPr algn="ctr" indent="0" marL="0">
              <a:buNone/>
            </a:pPr>
            <a:r>
              <a:rPr lang="en-US" sz="1250" b="1" dirty="0">
                <a:solidFill>
                  <a:srgbClr val="12355B"/>
                </a:solidFill>
                <a:latin typeface="Calibri" pitchFamily="34" charset="0"/>
                <a:ea typeface="Calibri" pitchFamily="34" charset="-122"/>
                <a:cs typeface="Calibri" pitchFamily="34" charset="-120"/>
              </a:rPr>
              <a:t>Model</a:t>
            </a:r>
            <a:endParaRPr lang="en-US" sz="1250" dirty="0"/>
          </a:p>
        </p:txBody>
      </p:sp>
      <p:sp>
        <p:nvSpPr>
          <p:cNvPr id="11" name="Text 9"/>
          <p:cNvSpPr txBox="1"/>
          <p:nvPr/>
        </p:nvSpPr>
        <p:spPr>
          <a:xfrm>
            <a:off x="10378440" y="2286000"/>
            <a:ext cx="502920" cy="1005840"/>
          </a:xfrm>
          <a:prstGeom prst="rect">
            <a:avLst/>
          </a:prstGeom>
          <a:noFill/>
          <a:ln/>
        </p:spPr>
        <p:txBody>
          <a:bodyPr wrap="square" lIns="0" tIns="0" rIns="0" bIns="0" rtlCol="0" anchor="ctr"/>
          <a:lstStyle/>
          <a:p>
            <a:pPr algn="ctr" indent="0" marL="0">
              <a:buNone/>
            </a:pPr>
            <a:r>
              <a:rPr lang="en-US" sz="2200" b="1" dirty="0">
                <a:solidFill>
                  <a:srgbClr val="F2A541"/>
                </a:solidFill>
                <a:latin typeface="Calibri" pitchFamily="34" charset="0"/>
                <a:ea typeface="Calibri" pitchFamily="34" charset="-122"/>
                <a:cs typeface="Calibri" pitchFamily="34" charset="-120"/>
              </a:rPr>
              <a:t>→</a:t>
            </a:r>
            <a:endParaRPr lang="en-US" sz="2200" dirty="0"/>
          </a:p>
        </p:txBody>
      </p:sp>
      <p:sp>
        <p:nvSpPr>
          <p:cNvPr id="12" name="Shape 10"/>
          <p:cNvSpPr/>
          <p:nvPr/>
        </p:nvSpPr>
        <p:spPr>
          <a:xfrm>
            <a:off x="10881360" y="2286000"/>
            <a:ext cx="1417320" cy="1005840"/>
          </a:xfrm>
          <a:prstGeom prst="roundRect">
            <a:avLst>
              <a:gd name="adj" fmla="val 7273"/>
            </a:avLst>
          </a:prstGeom>
          <a:solidFill>
            <a:srgbClr val="FFFFFF"/>
          </a:solidFill>
          <a:ln w="12700">
            <a:solidFill>
              <a:srgbClr val="E1E8ED"/>
            </a:solidFill>
            <a:prstDash val="solid"/>
          </a:ln>
          <a:effectLst>
            <a:outerShdw sx="100000" sy="100000" kx="0" ky="0" algn="bl" rotWithShape="0" blurRad="101600" dist="25400" dir="5400000">
              <a:srgbClr val="1B2733">
                <a:alpha val="12000"/>
              </a:srgbClr>
            </a:outerShdw>
          </a:effectLst>
        </p:spPr>
      </p:sp>
      <p:sp>
        <p:nvSpPr>
          <p:cNvPr id="13" name="Text 11"/>
          <p:cNvSpPr txBox="1"/>
          <p:nvPr/>
        </p:nvSpPr>
        <p:spPr>
          <a:xfrm>
            <a:off x="10881360" y="2286000"/>
            <a:ext cx="1417320" cy="1005840"/>
          </a:xfrm>
          <a:prstGeom prst="rect">
            <a:avLst/>
          </a:prstGeom>
          <a:noFill/>
          <a:ln/>
        </p:spPr>
        <p:txBody>
          <a:bodyPr wrap="square" lIns="0" tIns="0" rIns="0" bIns="0" rtlCol="0" anchor="ctr"/>
          <a:lstStyle/>
          <a:p>
            <a:pPr algn="ctr" indent="0" marL="0">
              <a:buNone/>
            </a:pPr>
            <a:r>
              <a:rPr lang="en-US" sz="1250" b="1" dirty="0">
                <a:solidFill>
                  <a:srgbClr val="12355B"/>
                </a:solidFill>
                <a:latin typeface="Calibri" pitchFamily="34" charset="0"/>
                <a:ea typeface="Calibri" pitchFamily="34" charset="-122"/>
                <a:cs typeface="Calibri" pitchFamily="34" charset="-120"/>
              </a:rPr>
              <a:t>Conservative</a:t>
            </a:r>
            <a:endParaRPr lang="en-US" sz="1250" dirty="0"/>
          </a:p>
          <a:p>
            <a:pPr algn="ctr" indent="0" marL="0">
              <a:buNone/>
            </a:pPr>
            <a:r>
              <a:rPr lang="en-US" sz="1250" b="1" dirty="0">
                <a:solidFill>
                  <a:srgbClr val="12355B"/>
                </a:solidFill>
                <a:latin typeface="Calibri" pitchFamily="34" charset="0"/>
                <a:ea typeface="Calibri" pitchFamily="34" charset="-122"/>
                <a:cs typeface="Calibri" pitchFamily="34" charset="-120"/>
              </a:rPr>
              <a:t>Pass Probability</a:t>
            </a:r>
            <a:endParaRPr lang="en-US" sz="1250" dirty="0"/>
          </a:p>
        </p:txBody>
      </p:sp>
      <p:sp>
        <p:nvSpPr>
          <p:cNvPr id="14" name="Text 12"/>
          <p:cNvSpPr txBox="1"/>
          <p:nvPr/>
        </p:nvSpPr>
        <p:spPr>
          <a:xfrm>
            <a:off x="7040880" y="3657600"/>
            <a:ext cx="4572000" cy="731520"/>
          </a:xfrm>
          <a:prstGeom prst="rect">
            <a:avLst/>
          </a:prstGeom>
          <a:noFill/>
          <a:ln/>
        </p:spPr>
        <p:txBody>
          <a:bodyPr wrap="square" lIns="0" tIns="0" rIns="0" bIns="0" rtlCol="0" anchor="ctr"/>
          <a:lstStyle/>
          <a:p>
            <a:pPr indent="0" marL="0">
              <a:buNone/>
            </a:pPr>
            <a:r>
              <a:rPr lang="en-US" sz="1200" i="1" dirty="0">
                <a:solidFill>
                  <a:srgbClr val="5C6B79"/>
                </a:solidFill>
                <a:latin typeface="Calibri" pitchFamily="34" charset="0"/>
                <a:ea typeface="Calibri" pitchFamily="34" charset="-122"/>
                <a:cs typeface="Calibri" pitchFamily="34" charset="-120"/>
              </a:rPr>
              <a:t>A full step-by-step derivation, with proofs, lives in Appendix E of the Validation Protocol.</a:t>
            </a:r>
            <a:endParaRPr lang="en-US" sz="1200" dirty="0"/>
          </a:p>
        </p:txBody>
      </p:sp>
      <p:sp>
        <p:nvSpPr>
          <p:cNvPr id="15" name="Text 13"/>
          <p:cNvSpPr txBox="1"/>
          <p:nvPr/>
        </p:nvSpPr>
        <p:spPr>
          <a:xfrm>
            <a:off x="11548872" y="6446520"/>
            <a:ext cx="365760" cy="274320"/>
          </a:xfrm>
          <a:prstGeom prst="rect">
            <a:avLst/>
          </a:prstGeom>
          <a:noFill/>
          <a:ln/>
        </p:spPr>
        <p:txBody>
          <a:bodyPr wrap="square" lIns="0" tIns="0" rIns="0" bIns="0" rtlCol="0" anchor="ctr"/>
          <a:lstStyle/>
          <a:p>
            <a:pPr algn="r" indent="0" marL="0">
              <a:buNone/>
            </a:pPr>
            <a:r>
              <a:rPr lang="en-US" sz="1000" dirty="0">
                <a:solidFill>
                  <a:srgbClr val="5C6B79"/>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5F8FA"/>
          </a:solidFill>
          <a:ln/>
        </p:spPr>
      </p:sp>
      <p:sp>
        <p:nvSpPr>
          <p:cNvPr id="3" name="Text 1"/>
          <p:cNvSpPr txBox="1"/>
          <p:nvPr/>
        </p:nvSpPr>
        <p:spPr>
          <a:xfrm>
            <a:off x="640080" y="457200"/>
            <a:ext cx="7315200" cy="320040"/>
          </a:xfrm>
          <a:prstGeom prst="rect">
            <a:avLst/>
          </a:prstGeom>
          <a:noFill/>
          <a:ln/>
        </p:spPr>
        <p:txBody>
          <a:bodyPr wrap="square" lIns="0" tIns="0" rIns="0" bIns="0" rtlCol="0" anchor="ctr"/>
          <a:lstStyle/>
          <a:p>
            <a:pPr indent="0" marL="0">
              <a:buNone/>
            </a:pPr>
            <a:r>
              <a:rPr lang="en-US" sz="1300" b="1" spc="200" kern="0" dirty="0">
                <a:solidFill>
                  <a:srgbClr val="F2A541"/>
                </a:solidFill>
                <a:latin typeface="Calibri" pitchFamily="34" charset="0"/>
                <a:ea typeface="Calibri" pitchFamily="34" charset="-122"/>
                <a:cs typeface="Calibri" pitchFamily="34" charset="-120"/>
              </a:rPr>
              <a:t>METHODOLOGY</a:t>
            </a:r>
            <a:endParaRPr lang="en-US" sz="1300" dirty="0"/>
          </a:p>
        </p:txBody>
      </p:sp>
      <p:sp>
        <p:nvSpPr>
          <p:cNvPr id="4" name="Text 2"/>
          <p:cNvSpPr txBox="1"/>
          <p:nvPr/>
        </p:nvSpPr>
        <p:spPr>
          <a:xfrm>
            <a:off x="640080" y="777240"/>
            <a:ext cx="10515600" cy="822960"/>
          </a:xfrm>
          <a:prstGeom prst="rect">
            <a:avLst/>
          </a:prstGeom>
          <a:noFill/>
          <a:ln/>
        </p:spPr>
        <p:txBody>
          <a:bodyPr wrap="square" lIns="0" tIns="0" rIns="0" bIns="0" rtlCol="0" anchor="ctr"/>
          <a:lstStyle/>
          <a:p>
            <a:pPr indent="0" marL="0">
              <a:buNone/>
            </a:pPr>
            <a:r>
              <a:rPr lang="en-US" sz="3400" b="1" dirty="0">
                <a:solidFill>
                  <a:srgbClr val="12355B"/>
                </a:solidFill>
                <a:latin typeface="Cambria" pitchFamily="34" charset="0"/>
                <a:ea typeface="Cambria" pitchFamily="34" charset="-122"/>
                <a:cs typeface="Cambria" pitchFamily="34" charset="-120"/>
              </a:rPr>
              <a:t>Line-by-Line Verification First</a:t>
            </a:r>
            <a:endParaRPr lang="en-US" sz="3400" dirty="0"/>
          </a:p>
        </p:txBody>
      </p:sp>
      <p:sp>
        <p:nvSpPr>
          <p:cNvPr id="5" name="Text 3"/>
          <p:cNvSpPr txBox="1"/>
          <p:nvPr/>
        </p:nvSpPr>
        <p:spPr>
          <a:xfrm>
            <a:off x="640080" y="2011680"/>
            <a:ext cx="5760720" cy="3840480"/>
          </a:xfrm>
          <a:prstGeom prst="rect">
            <a:avLst/>
          </a:prstGeom>
          <a:noFill/>
          <a:ln/>
        </p:spPr>
        <p:txBody>
          <a:bodyPr wrap="square" lIns="0" tIns="0" rIns="0" bIns="0" rtlCol="0" anchor="t"/>
          <a:lstStyle/>
          <a:p>
            <a:pPr marL="228600" indent="-228600">
              <a:spcAft>
                <a:spcPts val="1600"/>
              </a:spcAft>
              <a:buSzPct val="100000"/>
              <a:buChar char="•"/>
            </a:pPr>
            <a:r>
              <a:rPr lang="en-US" sz="1500" dirty="0">
                <a:solidFill>
                  <a:srgbClr val="16232E"/>
                </a:solidFill>
                <a:latin typeface="Calibri" pitchFamily="34" charset="0"/>
                <a:ea typeface="Calibri" pitchFamily="34" charset="-122"/>
                <a:cs typeface="Calibri" pitchFamily="34" charset="-120"/>
              </a:rPr>
              <a:t>Step one was never speed — it was fidelity: every SAS macro formula was translated and checked term-by-term before anything else changed.</a:t>
            </a:r>
            <a:endParaRPr lang="en-US" sz="1500" dirty="0"/>
          </a:p>
          <a:p>
            <a:pPr marL="228600" indent="-228600">
              <a:spcAft>
                <a:spcPts val="1600"/>
              </a:spcAft>
              <a:buSzPct val="100000"/>
              <a:buChar char="•"/>
            </a:pPr>
            <a:r>
              <a:rPr lang="en-US" sz="1500" dirty="0">
                <a:solidFill>
                  <a:srgbClr val="16232E"/>
                </a:solidFill>
                <a:latin typeface="Calibri" pitchFamily="34" charset="0"/>
                <a:ea typeface="Calibri" pitchFamily="34" charset="-122"/>
                <a:cs typeface="Calibri" pitchFamily="34" charset="-120"/>
              </a:rPr>
              <a:t>Only once the math was confirmed identical did any optimization work begin.</a:t>
            </a:r>
            <a:endParaRPr lang="en-US" sz="1500" dirty="0"/>
          </a:p>
          <a:p>
            <a:pPr marL="228600" indent="-228600">
              <a:spcAft>
                <a:spcPts val="1600"/>
              </a:spcAft>
              <a:buSzPct val="100000"/>
              <a:buChar char="•"/>
            </a:pPr>
            <a:r>
              <a:rPr lang="en-US" sz="1500" dirty="0">
                <a:solidFill>
                  <a:srgbClr val="16232E"/>
                </a:solidFill>
                <a:latin typeface="Calibri" pitchFamily="34" charset="0"/>
                <a:ea typeface="Calibri" pitchFamily="34" charset="-122"/>
                <a:cs typeface="Calibri" pitchFamily="34" charset="-120"/>
              </a:rPr>
              <a:t>The result: the same statistical answers the original system has produced for years, on a platform anyone can install with one command.</a:t>
            </a:r>
            <a:endParaRPr lang="en-US" sz="1500" dirty="0"/>
          </a:p>
        </p:txBody>
      </p:sp>
      <p:sp>
        <p:nvSpPr>
          <p:cNvPr id="6" name="Shape 4"/>
          <p:cNvSpPr/>
          <p:nvPr/>
        </p:nvSpPr>
        <p:spPr>
          <a:xfrm>
            <a:off x="6766560" y="2103120"/>
            <a:ext cx="4800600" cy="3566160"/>
          </a:xfrm>
          <a:prstGeom prst="roundRect">
            <a:avLst>
              <a:gd name="adj" fmla="val 2051"/>
            </a:avLst>
          </a:prstGeom>
          <a:solidFill>
            <a:srgbClr val="FFFFFF"/>
          </a:solidFill>
          <a:ln w="12700">
            <a:solidFill>
              <a:srgbClr val="E1E8ED"/>
            </a:solidFill>
            <a:prstDash val="solid"/>
          </a:ln>
          <a:effectLst>
            <a:outerShdw sx="100000" sy="100000" kx="0" ky="0" algn="bl" rotWithShape="0" blurRad="101600" dist="25400" dir="5400000">
              <a:srgbClr val="1B2733">
                <a:alpha val="12000"/>
              </a:srgbClr>
            </a:outerShdw>
          </a:effectLst>
        </p:spPr>
      </p:sp>
      <p:sp>
        <p:nvSpPr>
          <p:cNvPr id="7" name="Text 5"/>
          <p:cNvSpPr txBox="1"/>
          <p:nvPr/>
        </p:nvSpPr>
        <p:spPr>
          <a:xfrm>
            <a:off x="7040880" y="2331720"/>
            <a:ext cx="4251960" cy="320040"/>
          </a:xfrm>
          <a:prstGeom prst="rect">
            <a:avLst/>
          </a:prstGeom>
          <a:noFill/>
          <a:ln/>
        </p:spPr>
        <p:txBody>
          <a:bodyPr wrap="square" lIns="0" tIns="0" rIns="0" bIns="0" rtlCol="0" anchor="ctr"/>
          <a:lstStyle/>
          <a:p>
            <a:pPr indent="0" marL="0">
              <a:buNone/>
            </a:pPr>
            <a:r>
              <a:rPr lang="en-US" sz="1400" b="1" dirty="0">
                <a:solidFill>
                  <a:srgbClr val="12355B"/>
                </a:solidFill>
                <a:latin typeface="Calibri" pitchFamily="34" charset="0"/>
                <a:ea typeface="Calibri" pitchFamily="34" charset="-122"/>
                <a:cs typeface="Calibri" pitchFamily="34" charset="-120"/>
              </a:rPr>
              <a:t>SAS Macro  →  Python Function</a:t>
            </a:r>
            <a:endParaRPr lang="en-US" sz="1400" dirty="0"/>
          </a:p>
        </p:txBody>
      </p:sp>
      <p:sp>
        <p:nvSpPr>
          <p:cNvPr id="8" name="Text 6"/>
          <p:cNvSpPr txBox="1"/>
          <p:nvPr/>
        </p:nvSpPr>
        <p:spPr>
          <a:xfrm>
            <a:off x="7040880" y="2880360"/>
            <a:ext cx="4251960" cy="274320"/>
          </a:xfrm>
          <a:prstGeom prst="rect">
            <a:avLst/>
          </a:prstGeom>
          <a:noFill/>
          <a:ln/>
        </p:spPr>
        <p:txBody>
          <a:bodyPr wrap="square" lIns="0" tIns="0" rIns="0" bIns="0" rtlCol="0" anchor="ctr"/>
          <a:lstStyle/>
          <a:p>
            <a:pPr indent="0" marL="0">
              <a:buNone/>
            </a:pPr>
            <a:r>
              <a:rPr lang="en-US" sz="1150" dirty="0">
                <a:solidFill>
                  <a:srgbClr val="5C6B79"/>
                </a:solidFill>
                <a:latin typeface="Courier New" pitchFamily="34" charset="0"/>
                <a:ea typeface="Courier New" pitchFamily="34" charset="-122"/>
                <a:cs typeface="Courier New" pitchFamily="34" charset="-120"/>
              </a:rPr>
              <a:t>c1calc / cullu / cuulu</a:t>
            </a:r>
            <a:endParaRPr lang="en-US" sz="1150" dirty="0"/>
          </a:p>
        </p:txBody>
      </p:sp>
      <p:sp>
        <p:nvSpPr>
          <p:cNvPr id="9" name="Text 7"/>
          <p:cNvSpPr txBox="1"/>
          <p:nvPr/>
        </p:nvSpPr>
        <p:spPr>
          <a:xfrm>
            <a:off x="7040880" y="3172968"/>
            <a:ext cx="4251960" cy="274320"/>
          </a:xfrm>
          <a:prstGeom prst="rect">
            <a:avLst/>
          </a:prstGeom>
          <a:noFill/>
          <a:ln/>
        </p:spPr>
        <p:txBody>
          <a:bodyPr wrap="square" lIns="0" tIns="0" rIns="0" bIns="0" rtlCol="0" anchor="ctr"/>
          <a:lstStyle/>
          <a:p>
            <a:pPr indent="0" marL="0">
              <a:buNone/>
            </a:pPr>
            <a:r>
              <a:rPr lang="en-US" sz="1150" b="1" dirty="0">
                <a:solidFill>
                  <a:srgbClr val="1C7293"/>
                </a:solidFill>
                <a:latin typeface="Courier New" pitchFamily="34" charset="0"/>
                <a:ea typeface="Courier New" pitchFamily="34" charset="-122"/>
                <a:cs typeface="Courier New" pitchFamily="34" charset="-120"/>
              </a:rPr>
              <a:t>content_uniformity_bound()</a:t>
            </a:r>
            <a:endParaRPr lang="en-US" sz="1150" dirty="0"/>
          </a:p>
        </p:txBody>
      </p:sp>
      <p:sp>
        <p:nvSpPr>
          <p:cNvPr id="10" name="Text 8"/>
          <p:cNvSpPr txBox="1"/>
          <p:nvPr/>
        </p:nvSpPr>
        <p:spPr>
          <a:xfrm>
            <a:off x="7040880" y="3593592"/>
            <a:ext cx="4251960" cy="274320"/>
          </a:xfrm>
          <a:prstGeom prst="rect">
            <a:avLst/>
          </a:prstGeom>
          <a:noFill/>
          <a:ln/>
        </p:spPr>
        <p:txBody>
          <a:bodyPr wrap="square" lIns="0" tIns="0" rIns="0" bIns="0" rtlCol="0" anchor="ctr"/>
          <a:lstStyle/>
          <a:p>
            <a:pPr indent="0" marL="0">
              <a:buNone/>
            </a:pPr>
            <a:r>
              <a:rPr lang="en-US" sz="1150" dirty="0">
                <a:solidFill>
                  <a:srgbClr val="5C6B79"/>
                </a:solidFill>
                <a:latin typeface="Courier New" pitchFamily="34" charset="0"/>
                <a:ea typeface="Courier New" pitchFamily="34" charset="-122"/>
                <a:cs typeface="Courier New" pitchFamily="34" charset="-120"/>
              </a:rPr>
              <a:t>COMPUTE</a:t>
            </a:r>
            <a:endParaRPr lang="en-US" sz="1150" dirty="0"/>
          </a:p>
        </p:txBody>
      </p:sp>
      <p:sp>
        <p:nvSpPr>
          <p:cNvPr id="11" name="Text 9"/>
          <p:cNvSpPr txBox="1"/>
          <p:nvPr/>
        </p:nvSpPr>
        <p:spPr>
          <a:xfrm>
            <a:off x="7040880" y="3886200"/>
            <a:ext cx="4251960" cy="274320"/>
          </a:xfrm>
          <a:prstGeom prst="rect">
            <a:avLst/>
          </a:prstGeom>
          <a:noFill/>
          <a:ln/>
        </p:spPr>
        <p:txBody>
          <a:bodyPr wrap="square" lIns="0" tIns="0" rIns="0" bIns="0" rtlCol="0" anchor="ctr"/>
          <a:lstStyle/>
          <a:p>
            <a:pPr indent="0" marL="0">
              <a:buNone/>
            </a:pPr>
            <a:r>
              <a:rPr lang="en-US" sz="1150" b="1" dirty="0">
                <a:solidFill>
                  <a:srgbClr val="1C7293"/>
                </a:solidFill>
                <a:latin typeface="Courier New" pitchFamily="34" charset="0"/>
                <a:ea typeface="Courier New" pitchFamily="34" charset="-122"/>
                <a:cs typeface="Courier New" pitchFamily="34" charset="-120"/>
              </a:rPr>
              <a:t>dissolution_bound()</a:t>
            </a:r>
            <a:endParaRPr lang="en-US" sz="1150" dirty="0"/>
          </a:p>
        </p:txBody>
      </p:sp>
      <p:sp>
        <p:nvSpPr>
          <p:cNvPr id="12" name="Text 10"/>
          <p:cNvSpPr txBox="1"/>
          <p:nvPr/>
        </p:nvSpPr>
        <p:spPr>
          <a:xfrm>
            <a:off x="7040880" y="4306824"/>
            <a:ext cx="4251960" cy="274320"/>
          </a:xfrm>
          <a:prstGeom prst="rect">
            <a:avLst/>
          </a:prstGeom>
          <a:noFill/>
          <a:ln/>
        </p:spPr>
        <p:txBody>
          <a:bodyPr wrap="square" lIns="0" tIns="0" rIns="0" bIns="0" rtlCol="0" anchor="ctr"/>
          <a:lstStyle/>
          <a:p>
            <a:pPr indent="0" marL="0">
              <a:buNone/>
            </a:pPr>
            <a:r>
              <a:rPr lang="en-US" sz="1150" dirty="0">
                <a:solidFill>
                  <a:srgbClr val="5C6B79"/>
                </a:solidFill>
                <a:latin typeface="Courier New" pitchFamily="34" charset="0"/>
                <a:ea typeface="Courier New" pitchFamily="34" charset="-122"/>
                <a:cs typeface="Courier New" pitchFamily="34" charset="-120"/>
              </a:rPr>
              <a:t>CALCUSP1 / CALCUSP2</a:t>
            </a:r>
            <a:endParaRPr lang="en-US" sz="1150" dirty="0"/>
          </a:p>
        </p:txBody>
      </p:sp>
      <p:sp>
        <p:nvSpPr>
          <p:cNvPr id="13" name="Text 11"/>
          <p:cNvSpPr txBox="1"/>
          <p:nvPr/>
        </p:nvSpPr>
        <p:spPr>
          <a:xfrm>
            <a:off x="7040880" y="4599432"/>
            <a:ext cx="4251960" cy="274320"/>
          </a:xfrm>
          <a:prstGeom prst="rect">
            <a:avLst/>
          </a:prstGeom>
          <a:noFill/>
          <a:ln/>
        </p:spPr>
        <p:txBody>
          <a:bodyPr wrap="square" lIns="0" tIns="0" rIns="0" bIns="0" rtlCol="0" anchor="ctr"/>
          <a:lstStyle/>
          <a:p>
            <a:pPr indent="0" marL="0">
              <a:buNone/>
            </a:pPr>
            <a:r>
              <a:rPr lang="en-US" sz="1150" b="1" dirty="0">
                <a:solidFill>
                  <a:srgbClr val="1C7293"/>
                </a:solidFill>
                <a:latin typeface="Courier New" pitchFamily="34" charset="0"/>
                <a:ea typeface="Courier New" pitchFamily="34" charset="-122"/>
                <a:cs typeface="Courier New" pitchFamily="34" charset="-120"/>
              </a:rPr>
              <a:t>acceptance_limit_table()</a:t>
            </a:r>
            <a:endParaRPr lang="en-US" sz="1150" dirty="0"/>
          </a:p>
        </p:txBody>
      </p:sp>
      <p:sp>
        <p:nvSpPr>
          <p:cNvPr id="14" name="Text 12"/>
          <p:cNvSpPr txBox="1"/>
          <p:nvPr/>
        </p:nvSpPr>
        <p:spPr>
          <a:xfrm>
            <a:off x="7040880" y="5020056"/>
            <a:ext cx="4251960" cy="274320"/>
          </a:xfrm>
          <a:prstGeom prst="rect">
            <a:avLst/>
          </a:prstGeom>
          <a:noFill/>
          <a:ln/>
        </p:spPr>
        <p:txBody>
          <a:bodyPr wrap="square" lIns="0" tIns="0" rIns="0" bIns="0" rtlCol="0" anchor="ctr"/>
          <a:lstStyle/>
          <a:p>
            <a:pPr indent="0" marL="0">
              <a:buNone/>
            </a:pPr>
            <a:r>
              <a:rPr lang="en-US" sz="1150" dirty="0">
                <a:solidFill>
                  <a:srgbClr val="5C6B79"/>
                </a:solidFill>
                <a:latin typeface="Courier New" pitchFamily="34" charset="0"/>
                <a:ea typeface="Courier New" pitchFamily="34" charset="-122"/>
                <a:cs typeface="Courier New" pitchFamily="34" charset="-120"/>
              </a:rPr>
              <a:t>SMPCUSP1 / SMPDISP1</a:t>
            </a:r>
            <a:endParaRPr lang="en-US" sz="1150" dirty="0"/>
          </a:p>
        </p:txBody>
      </p:sp>
      <p:sp>
        <p:nvSpPr>
          <p:cNvPr id="15" name="Text 13"/>
          <p:cNvSpPr txBox="1"/>
          <p:nvPr/>
        </p:nvSpPr>
        <p:spPr>
          <a:xfrm>
            <a:off x="7040880" y="5312664"/>
            <a:ext cx="4251960" cy="274320"/>
          </a:xfrm>
          <a:prstGeom prst="rect">
            <a:avLst/>
          </a:prstGeom>
          <a:noFill/>
          <a:ln/>
        </p:spPr>
        <p:txBody>
          <a:bodyPr wrap="square" lIns="0" tIns="0" rIns="0" bIns="0" rtlCol="0" anchor="ctr"/>
          <a:lstStyle/>
          <a:p>
            <a:pPr indent="0" marL="0">
              <a:buNone/>
            </a:pPr>
            <a:r>
              <a:rPr lang="en-US" sz="1150" b="1" dirty="0">
                <a:solidFill>
                  <a:srgbClr val="1C7293"/>
                </a:solidFill>
                <a:latin typeface="Courier New" pitchFamily="34" charset="0"/>
                <a:ea typeface="Courier New" pitchFamily="34" charset="-122"/>
                <a:cs typeface="Courier New" pitchFamily="34" charset="-120"/>
              </a:rPr>
              <a:t>sample_probability()</a:t>
            </a:r>
            <a:endParaRPr lang="en-US" sz="1150" dirty="0"/>
          </a:p>
        </p:txBody>
      </p:sp>
      <p:sp>
        <p:nvSpPr>
          <p:cNvPr id="16" name="Text 14"/>
          <p:cNvSpPr txBox="1"/>
          <p:nvPr/>
        </p:nvSpPr>
        <p:spPr>
          <a:xfrm>
            <a:off x="11548872" y="6446520"/>
            <a:ext cx="365760" cy="274320"/>
          </a:xfrm>
          <a:prstGeom prst="rect">
            <a:avLst/>
          </a:prstGeom>
          <a:noFill/>
          <a:ln/>
        </p:spPr>
        <p:txBody>
          <a:bodyPr wrap="square" lIns="0" tIns="0" rIns="0" bIns="0" rtlCol="0" anchor="ctr"/>
          <a:lstStyle/>
          <a:p>
            <a:pPr algn="r" indent="0" marL="0">
              <a:buNone/>
            </a:pPr>
            <a:r>
              <a:rPr lang="en-US" sz="1000" dirty="0">
                <a:solidFill>
                  <a:srgbClr val="5C6B79"/>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5F8FA"/>
          </a:solidFill>
          <a:ln/>
        </p:spPr>
      </p:sp>
      <p:sp>
        <p:nvSpPr>
          <p:cNvPr id="3" name="Text 1"/>
          <p:cNvSpPr txBox="1"/>
          <p:nvPr/>
        </p:nvSpPr>
        <p:spPr>
          <a:xfrm>
            <a:off x="640080" y="457200"/>
            <a:ext cx="7315200" cy="320040"/>
          </a:xfrm>
          <a:prstGeom prst="rect">
            <a:avLst/>
          </a:prstGeom>
          <a:noFill/>
          <a:ln/>
        </p:spPr>
        <p:txBody>
          <a:bodyPr wrap="square" lIns="0" tIns="0" rIns="0" bIns="0" rtlCol="0" anchor="ctr"/>
          <a:lstStyle/>
          <a:p>
            <a:pPr indent="0" marL="0">
              <a:buNone/>
            </a:pPr>
            <a:r>
              <a:rPr lang="en-US" sz="1300" b="1" spc="200" kern="0" dirty="0">
                <a:solidFill>
                  <a:srgbClr val="F2A541"/>
                </a:solidFill>
                <a:latin typeface="Calibri" pitchFamily="34" charset="0"/>
                <a:ea typeface="Calibri" pitchFamily="34" charset="-122"/>
                <a:cs typeface="Calibri" pitchFamily="34" charset="-120"/>
              </a:rPr>
              <a:t>PERFORMANCE ENGINEERING</a:t>
            </a:r>
            <a:endParaRPr lang="en-US" sz="1300" dirty="0"/>
          </a:p>
        </p:txBody>
      </p:sp>
      <p:sp>
        <p:nvSpPr>
          <p:cNvPr id="4" name="Text 2"/>
          <p:cNvSpPr txBox="1"/>
          <p:nvPr/>
        </p:nvSpPr>
        <p:spPr>
          <a:xfrm>
            <a:off x="640080" y="777240"/>
            <a:ext cx="10515600" cy="822960"/>
          </a:xfrm>
          <a:prstGeom prst="rect">
            <a:avLst/>
          </a:prstGeom>
          <a:noFill/>
          <a:ln/>
        </p:spPr>
        <p:txBody>
          <a:bodyPr wrap="square" lIns="0" tIns="0" rIns="0" bIns="0" rtlCol="0" anchor="ctr"/>
          <a:lstStyle/>
          <a:p>
            <a:pPr indent="0" marL="0">
              <a:buNone/>
            </a:pPr>
            <a:r>
              <a:rPr lang="en-US" sz="3400" b="1" dirty="0">
                <a:solidFill>
                  <a:srgbClr val="12355B"/>
                </a:solidFill>
                <a:latin typeface="Cambria" pitchFamily="34" charset="0"/>
                <a:ea typeface="Cambria" pitchFamily="34" charset="-122"/>
                <a:cs typeface="Cambria" pitchFamily="34" charset="-120"/>
              </a:rPr>
              <a:t>Faster, Not Just Modern</a:t>
            </a:r>
            <a:endParaRPr lang="en-US" sz="3400" dirty="0"/>
          </a:p>
        </p:txBody>
      </p:sp>
      <p:graphicFrame>
        <p:nvGraphicFramePr>
          <p:cNvPr id="5" name="Chart 0" descr=""/>
          <p:cNvGraphicFramePr/>
          <p:nvPr/>
        </p:nvGraphicFramePr>
        <p:xfrm>
          <a:off x="640080" y="1965960"/>
          <a:ext cx="6583680" cy="411480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7589520" y="1965960"/>
            <a:ext cx="3977640" cy="4114800"/>
          </a:xfrm>
          <a:prstGeom prst="roundRect">
            <a:avLst>
              <a:gd name="adj" fmla="val 1839"/>
            </a:avLst>
          </a:prstGeom>
          <a:solidFill>
            <a:srgbClr val="FFFFFF"/>
          </a:solidFill>
          <a:ln w="12700">
            <a:solidFill>
              <a:srgbClr val="E1E8ED"/>
            </a:solidFill>
            <a:prstDash val="solid"/>
          </a:ln>
          <a:effectLst>
            <a:outerShdw sx="100000" sy="100000" kx="0" ky="0" algn="bl" rotWithShape="0" blurRad="101600" dist="25400" dir="5400000">
              <a:srgbClr val="1B2733">
                <a:alpha val="12000"/>
              </a:srgbClr>
            </a:outerShdw>
          </a:effectLst>
        </p:spPr>
      </p:sp>
      <p:sp>
        <p:nvSpPr>
          <p:cNvPr id="7" name="Text 4"/>
          <p:cNvSpPr txBox="1"/>
          <p:nvPr/>
        </p:nvSpPr>
        <p:spPr>
          <a:xfrm>
            <a:off x="7863840" y="2194560"/>
            <a:ext cx="3429000" cy="320040"/>
          </a:xfrm>
          <a:prstGeom prst="rect">
            <a:avLst/>
          </a:prstGeom>
          <a:noFill/>
          <a:ln/>
        </p:spPr>
        <p:txBody>
          <a:bodyPr wrap="square" lIns="0" tIns="0" rIns="0" bIns="0" rtlCol="0" anchor="ctr"/>
          <a:lstStyle/>
          <a:p>
            <a:pPr indent="0" marL="0">
              <a:buNone/>
            </a:pPr>
            <a:r>
              <a:rPr lang="en-US" sz="1500" b="1" dirty="0">
                <a:solidFill>
                  <a:srgbClr val="12355B"/>
                </a:solidFill>
                <a:latin typeface="Calibri" pitchFamily="34" charset="0"/>
                <a:ea typeface="Calibri" pitchFamily="34" charset="-122"/>
                <a:cs typeface="Calibri" pitchFamily="34" charset="-120"/>
              </a:rPr>
              <a:t>What Changed</a:t>
            </a:r>
            <a:endParaRPr lang="en-US" sz="1500" dirty="0"/>
          </a:p>
        </p:txBody>
      </p:sp>
      <p:sp>
        <p:nvSpPr>
          <p:cNvPr id="8" name="Text 5"/>
          <p:cNvSpPr txBox="1"/>
          <p:nvPr/>
        </p:nvSpPr>
        <p:spPr>
          <a:xfrm>
            <a:off x="7863840" y="2606040"/>
            <a:ext cx="3429000" cy="3291840"/>
          </a:xfrm>
          <a:prstGeom prst="rect">
            <a:avLst/>
          </a:prstGeom>
          <a:noFill/>
          <a:ln/>
        </p:spPr>
        <p:txBody>
          <a:bodyPr wrap="square" lIns="0" tIns="0" rIns="0" bIns="0" rtlCol="0" anchor="t"/>
          <a:lstStyle/>
          <a:p>
            <a:pPr marL="228600" indent="-228600">
              <a:spcAft>
                <a:spcPts val="1200"/>
              </a:spcAft>
              <a:buSzPct val="100000"/>
              <a:buChar char="•"/>
            </a:pPr>
            <a:r>
              <a:rPr lang="en-US" sz="1250" dirty="0">
                <a:solidFill>
                  <a:srgbClr val="16232E"/>
                </a:solidFill>
                <a:latin typeface="Calibri" pitchFamily="34" charset="0"/>
                <a:ea typeface="Calibri" pitchFamily="34" charset="-122"/>
                <a:cs typeface="Calibri" pitchFamily="34" charset="-120"/>
              </a:rPr>
              <a:t>Every probability formula rewritten to evaluate whole grids at once with numpy, instead of one point at a time.</a:t>
            </a:r>
            <a:endParaRPr lang="en-US" sz="1250" dirty="0"/>
          </a:p>
          <a:p>
            <a:pPr marL="228600" indent="-228600">
              <a:spcAft>
                <a:spcPts val="1200"/>
              </a:spcAft>
              <a:buSzPct val="100000"/>
              <a:buChar char="•"/>
            </a:pPr>
            <a:r>
              <a:rPr lang="en-US" sz="1250" dirty="0">
                <a:solidFill>
                  <a:srgbClr val="16232E"/>
                </a:solidFill>
                <a:latin typeface="Calibri" pitchFamily="34" charset="0"/>
                <a:ea typeface="Calibri" pitchFamily="34" charset="-122"/>
                <a:cs typeface="Calibri" pitchFamily="34" charset="-120"/>
              </a:rPr>
              <a:t>A vectorized bisection solves every grid point's root simultaneously, replacing SAS's original step-by-step search.</a:t>
            </a:r>
            <a:endParaRPr lang="en-US" sz="1250" dirty="0"/>
          </a:p>
          <a:p>
            <a:pPr marL="228600" indent="-228600">
              <a:spcAft>
                <a:spcPts val="1200"/>
              </a:spcAft>
              <a:buSzPct val="100000"/>
              <a:buChar char="•"/>
            </a:pPr>
            <a:r>
              <a:rPr lang="en-US" sz="1250" dirty="0">
                <a:solidFill>
                  <a:srgbClr val="16232E"/>
                </a:solidFill>
                <a:latin typeface="Calibri" pitchFamily="34" charset="0"/>
                <a:ea typeface="Calibri" pitchFamily="34" charset="-122"/>
                <a:cs typeface="Calibri" pitchFamily="34" charset="-120"/>
              </a:rPr>
              <a:t>Same formulas, same answers — just computed as arrays instead of loops.</a:t>
            </a:r>
            <a:endParaRPr lang="en-US" sz="1250" dirty="0"/>
          </a:p>
        </p:txBody>
      </p:sp>
      <p:sp>
        <p:nvSpPr>
          <p:cNvPr id="9" name="Text 6"/>
          <p:cNvSpPr txBox="1"/>
          <p:nvPr/>
        </p:nvSpPr>
        <p:spPr>
          <a:xfrm>
            <a:off x="11548872" y="6446520"/>
            <a:ext cx="365760" cy="274320"/>
          </a:xfrm>
          <a:prstGeom prst="rect">
            <a:avLst/>
          </a:prstGeom>
          <a:noFill/>
          <a:ln/>
        </p:spPr>
        <p:txBody>
          <a:bodyPr wrap="square" lIns="0" tIns="0" rIns="0" bIns="0" rtlCol="0" anchor="ctr"/>
          <a:lstStyle/>
          <a:p>
            <a:pPr algn="r" indent="0" marL="0">
              <a:buNone/>
            </a:pPr>
            <a:r>
              <a:rPr lang="en-US" sz="1000" dirty="0">
                <a:solidFill>
                  <a:srgbClr val="5C6B79"/>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5F8FA"/>
          </a:solidFill>
          <a:ln/>
        </p:spPr>
      </p:sp>
      <p:sp>
        <p:nvSpPr>
          <p:cNvPr id="3" name="Text 1"/>
          <p:cNvSpPr txBox="1"/>
          <p:nvPr/>
        </p:nvSpPr>
        <p:spPr>
          <a:xfrm>
            <a:off x="640080" y="457200"/>
            <a:ext cx="7315200" cy="320040"/>
          </a:xfrm>
          <a:prstGeom prst="rect">
            <a:avLst/>
          </a:prstGeom>
          <a:noFill/>
          <a:ln/>
        </p:spPr>
        <p:txBody>
          <a:bodyPr wrap="square" lIns="0" tIns="0" rIns="0" bIns="0" rtlCol="0" anchor="ctr"/>
          <a:lstStyle/>
          <a:p>
            <a:pPr indent="0" marL="0">
              <a:buNone/>
            </a:pPr>
            <a:r>
              <a:rPr lang="en-US" sz="1300" b="1" spc="200" kern="0" dirty="0">
                <a:solidFill>
                  <a:srgbClr val="F2A541"/>
                </a:solidFill>
                <a:latin typeface="Calibri" pitchFamily="34" charset="0"/>
                <a:ea typeface="Calibri" pitchFamily="34" charset="-122"/>
                <a:cs typeface="Calibri" pitchFamily="34" charset="-120"/>
              </a:rPr>
              <a:t>RIGOR IN PRACTICE</a:t>
            </a:r>
            <a:endParaRPr lang="en-US" sz="1300" dirty="0"/>
          </a:p>
        </p:txBody>
      </p:sp>
      <p:sp>
        <p:nvSpPr>
          <p:cNvPr id="4" name="Text 2"/>
          <p:cNvSpPr txBox="1"/>
          <p:nvPr/>
        </p:nvSpPr>
        <p:spPr>
          <a:xfrm>
            <a:off x="640080" y="777240"/>
            <a:ext cx="10515600" cy="822960"/>
          </a:xfrm>
          <a:prstGeom prst="rect">
            <a:avLst/>
          </a:prstGeom>
          <a:noFill/>
          <a:ln/>
        </p:spPr>
        <p:txBody>
          <a:bodyPr wrap="square" lIns="0" tIns="0" rIns="0" bIns="0" rtlCol="0" anchor="ctr"/>
          <a:lstStyle/>
          <a:p>
            <a:pPr indent="0" marL="0">
              <a:buNone/>
            </a:pPr>
            <a:r>
              <a:rPr lang="en-US" sz="3400" b="1" dirty="0">
                <a:solidFill>
                  <a:srgbClr val="12355B"/>
                </a:solidFill>
                <a:latin typeface="Cambria" pitchFamily="34" charset="0"/>
                <a:ea typeface="Cambria" pitchFamily="34" charset="-122"/>
                <a:cs typeface="Cambria" pitchFamily="34" charset="-120"/>
              </a:rPr>
              <a:t>The CUSP2 Discrepancy Investigation</a:t>
            </a:r>
            <a:endParaRPr lang="en-US" sz="3400" dirty="0"/>
          </a:p>
        </p:txBody>
      </p:sp>
      <p:sp>
        <p:nvSpPr>
          <p:cNvPr id="5" name="Text 3"/>
          <p:cNvSpPr txBox="1"/>
          <p:nvPr/>
        </p:nvSpPr>
        <p:spPr>
          <a:xfrm>
            <a:off x="640080" y="1783080"/>
            <a:ext cx="10881360" cy="594360"/>
          </a:xfrm>
          <a:prstGeom prst="rect">
            <a:avLst/>
          </a:prstGeom>
          <a:noFill/>
          <a:ln/>
        </p:spPr>
        <p:txBody>
          <a:bodyPr wrap="square" lIns="0" tIns="0" rIns="0" bIns="0" rtlCol="0" anchor="ctr"/>
          <a:lstStyle/>
          <a:p>
            <a:pPr indent="0" marL="0">
              <a:buNone/>
            </a:pPr>
            <a:r>
              <a:rPr lang="en-US" sz="1450" dirty="0">
                <a:solidFill>
                  <a:srgbClr val="16232E"/>
                </a:solidFill>
                <a:latin typeface="Calibri" pitchFamily="34" charset="0"/>
                <a:ea typeface="Calibri" pitchFamily="34" charset="-122"/>
                <a:cs typeface="Calibri" pitchFamily="34" charset="-120"/>
              </a:rPr>
              <a:t>In one narrow condition — very small variability combined with a large sample size — the Python result differed slightly from the original SAS output. Rather than dismiss it, we ran it to ground.</a:t>
            </a:r>
            <a:endParaRPr lang="en-US" sz="1450" dirty="0"/>
          </a:p>
        </p:txBody>
      </p:sp>
      <p:sp>
        <p:nvSpPr>
          <p:cNvPr id="6" name="Shape 4"/>
          <p:cNvSpPr/>
          <p:nvPr/>
        </p:nvSpPr>
        <p:spPr>
          <a:xfrm>
            <a:off x="640080" y="2697480"/>
            <a:ext cx="2514600" cy="1920240"/>
          </a:xfrm>
          <a:prstGeom prst="roundRect">
            <a:avLst>
              <a:gd name="adj" fmla="val 3810"/>
            </a:avLst>
          </a:prstGeom>
          <a:solidFill>
            <a:srgbClr val="FFFFFF"/>
          </a:solidFill>
          <a:ln w="12700">
            <a:solidFill>
              <a:srgbClr val="E1E8ED"/>
            </a:solidFill>
            <a:prstDash val="solid"/>
          </a:ln>
          <a:effectLst>
            <a:outerShdw sx="100000" sy="100000" kx="0" ky="0" algn="bl" rotWithShape="0" blurRad="101600" dist="25400" dir="5400000">
              <a:srgbClr val="1B2733">
                <a:alpha val="12000"/>
              </a:srgbClr>
            </a:outerShdw>
          </a:effectLst>
        </p:spPr>
      </p:sp>
      <p:sp>
        <p:nvSpPr>
          <p:cNvPr id="7" name="Shape 5"/>
          <p:cNvSpPr/>
          <p:nvPr/>
        </p:nvSpPr>
        <p:spPr>
          <a:xfrm>
            <a:off x="1623060" y="2971800"/>
            <a:ext cx="548640" cy="548640"/>
          </a:xfrm>
          <a:prstGeom prst="ellipse">
            <a:avLst/>
          </a:prstGeom>
          <a:solidFill>
            <a:srgbClr val="12355B"/>
          </a:solidFill>
          <a:ln/>
        </p:spPr>
      </p:sp>
      <p:sp>
        <p:nvSpPr>
          <p:cNvPr id="8" name="Text 6"/>
          <p:cNvSpPr txBox="1"/>
          <p:nvPr/>
        </p:nvSpPr>
        <p:spPr>
          <a:xfrm>
            <a:off x="1623060" y="297180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9" name="Text 7"/>
          <p:cNvSpPr txBox="1"/>
          <p:nvPr/>
        </p:nvSpPr>
        <p:spPr>
          <a:xfrm>
            <a:off x="777240" y="3657600"/>
            <a:ext cx="2240280" cy="320040"/>
          </a:xfrm>
          <a:prstGeom prst="rect">
            <a:avLst/>
          </a:prstGeom>
          <a:noFill/>
          <a:ln/>
        </p:spPr>
        <p:txBody>
          <a:bodyPr wrap="square" lIns="0" tIns="0" rIns="0" bIns="0" rtlCol="0" anchor="ctr"/>
          <a:lstStyle/>
          <a:p>
            <a:pPr algn="ctr" indent="0" marL="0">
              <a:buNone/>
            </a:pPr>
            <a:r>
              <a:rPr lang="en-US" sz="1400" b="1" dirty="0">
                <a:solidFill>
                  <a:srgbClr val="12355B"/>
                </a:solidFill>
                <a:latin typeface="Calibri" pitchFamily="34" charset="0"/>
                <a:ea typeface="Calibri" pitchFamily="34" charset="-122"/>
                <a:cs typeface="Calibri" pitchFamily="34" charset="-120"/>
              </a:rPr>
              <a:t>Observed</a:t>
            </a:r>
            <a:endParaRPr lang="en-US" sz="1400" dirty="0"/>
          </a:p>
        </p:txBody>
      </p:sp>
      <p:sp>
        <p:nvSpPr>
          <p:cNvPr id="10" name="Text 8"/>
          <p:cNvSpPr txBox="1"/>
          <p:nvPr/>
        </p:nvSpPr>
        <p:spPr>
          <a:xfrm>
            <a:off x="777240" y="3959352"/>
            <a:ext cx="2240280" cy="594360"/>
          </a:xfrm>
          <a:prstGeom prst="rect">
            <a:avLst/>
          </a:prstGeom>
          <a:noFill/>
          <a:ln/>
        </p:spPr>
        <p:txBody>
          <a:bodyPr wrap="square" lIns="0" tIns="0" rIns="0" bIns="0" rtlCol="0" anchor="ctr"/>
          <a:lstStyle/>
          <a:p>
            <a:pPr algn="ctr" indent="0" marL="0">
              <a:buNone/>
            </a:pPr>
            <a:r>
              <a:rPr lang="en-US" sz="1050" dirty="0">
                <a:solidFill>
                  <a:srgbClr val="5C6B79"/>
                </a:solidFill>
                <a:latin typeface="Calibri" pitchFamily="34" charset="0"/>
                <a:ea typeface="Calibri" pitchFamily="34" charset="-122"/>
                <a:cs typeface="Calibri" pitchFamily="34" charset="-120"/>
              </a:rPr>
              <a:t>A gap appeared vs. SAS in one edge case</a:t>
            </a:r>
            <a:endParaRPr lang="en-US" sz="1050" dirty="0"/>
          </a:p>
        </p:txBody>
      </p:sp>
      <p:sp>
        <p:nvSpPr>
          <p:cNvPr id="11" name="Text 9"/>
          <p:cNvSpPr txBox="1"/>
          <p:nvPr/>
        </p:nvSpPr>
        <p:spPr>
          <a:xfrm>
            <a:off x="3154680" y="2834640"/>
            <a:ext cx="411480" cy="548640"/>
          </a:xfrm>
          <a:prstGeom prst="rect">
            <a:avLst/>
          </a:prstGeom>
          <a:noFill/>
          <a:ln/>
        </p:spPr>
        <p:txBody>
          <a:bodyPr wrap="square" lIns="0" tIns="0" rIns="0" bIns="0" rtlCol="0" anchor="ctr"/>
          <a:lstStyle/>
          <a:p>
            <a:pPr algn="ctr" indent="0" marL="0">
              <a:buNone/>
            </a:pPr>
            <a:r>
              <a:rPr lang="en-US" sz="2000" b="1" dirty="0">
                <a:solidFill>
                  <a:srgbClr val="F2A541"/>
                </a:solidFill>
              </a:rPr>
              <a:t>→</a:t>
            </a:r>
            <a:endParaRPr lang="en-US" sz="2000" dirty="0"/>
          </a:p>
        </p:txBody>
      </p:sp>
      <p:sp>
        <p:nvSpPr>
          <p:cNvPr id="12" name="Shape 10"/>
          <p:cNvSpPr/>
          <p:nvPr/>
        </p:nvSpPr>
        <p:spPr>
          <a:xfrm>
            <a:off x="3566160" y="2697480"/>
            <a:ext cx="2514600" cy="1920240"/>
          </a:xfrm>
          <a:prstGeom prst="roundRect">
            <a:avLst>
              <a:gd name="adj" fmla="val 3810"/>
            </a:avLst>
          </a:prstGeom>
          <a:solidFill>
            <a:srgbClr val="FFFFFF"/>
          </a:solidFill>
          <a:ln w="12700">
            <a:solidFill>
              <a:srgbClr val="E1E8ED"/>
            </a:solidFill>
            <a:prstDash val="solid"/>
          </a:ln>
          <a:effectLst>
            <a:outerShdw sx="100000" sy="100000" kx="0" ky="0" algn="bl" rotWithShape="0" blurRad="101600" dist="25400" dir="5400000">
              <a:srgbClr val="1B2733">
                <a:alpha val="12000"/>
              </a:srgbClr>
            </a:outerShdw>
          </a:effectLst>
        </p:spPr>
      </p:sp>
      <p:sp>
        <p:nvSpPr>
          <p:cNvPr id="13" name="Shape 11"/>
          <p:cNvSpPr/>
          <p:nvPr/>
        </p:nvSpPr>
        <p:spPr>
          <a:xfrm>
            <a:off x="4549140" y="2971800"/>
            <a:ext cx="548640" cy="548640"/>
          </a:xfrm>
          <a:prstGeom prst="ellipse">
            <a:avLst/>
          </a:prstGeom>
          <a:solidFill>
            <a:srgbClr val="1C7293"/>
          </a:solidFill>
          <a:ln/>
        </p:spPr>
      </p:sp>
      <p:sp>
        <p:nvSpPr>
          <p:cNvPr id="14" name="Text 12"/>
          <p:cNvSpPr txBox="1"/>
          <p:nvPr/>
        </p:nvSpPr>
        <p:spPr>
          <a:xfrm>
            <a:off x="4549140" y="297180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5" name="Text 13"/>
          <p:cNvSpPr txBox="1"/>
          <p:nvPr/>
        </p:nvSpPr>
        <p:spPr>
          <a:xfrm>
            <a:off x="3703320" y="3657600"/>
            <a:ext cx="2240280" cy="320040"/>
          </a:xfrm>
          <a:prstGeom prst="rect">
            <a:avLst/>
          </a:prstGeom>
          <a:noFill/>
          <a:ln/>
        </p:spPr>
        <p:txBody>
          <a:bodyPr wrap="square" lIns="0" tIns="0" rIns="0" bIns="0" rtlCol="0" anchor="ctr"/>
          <a:lstStyle/>
          <a:p>
            <a:pPr algn="ctr" indent="0" marL="0">
              <a:buNone/>
            </a:pPr>
            <a:r>
              <a:rPr lang="en-US" sz="1400" b="1" dirty="0">
                <a:solidFill>
                  <a:srgbClr val="12355B"/>
                </a:solidFill>
                <a:latin typeface="Calibri" pitchFamily="34" charset="0"/>
                <a:ea typeface="Calibri" pitchFamily="34" charset="-122"/>
                <a:cs typeface="Calibri" pitchFamily="34" charset="-120"/>
              </a:rPr>
              <a:t>Ruled Out</a:t>
            </a:r>
            <a:endParaRPr lang="en-US" sz="1400" dirty="0"/>
          </a:p>
        </p:txBody>
      </p:sp>
      <p:sp>
        <p:nvSpPr>
          <p:cNvPr id="16" name="Text 14"/>
          <p:cNvSpPr txBox="1"/>
          <p:nvPr/>
        </p:nvSpPr>
        <p:spPr>
          <a:xfrm>
            <a:off x="3703320" y="3959352"/>
            <a:ext cx="2240280" cy="594360"/>
          </a:xfrm>
          <a:prstGeom prst="rect">
            <a:avLst/>
          </a:prstGeom>
          <a:noFill/>
          <a:ln/>
        </p:spPr>
        <p:txBody>
          <a:bodyPr wrap="square" lIns="0" tIns="0" rIns="0" bIns="0" rtlCol="0" anchor="ctr"/>
          <a:lstStyle/>
          <a:p>
            <a:pPr algn="ctr" indent="0" marL="0">
              <a:buNone/>
            </a:pPr>
            <a:r>
              <a:rPr lang="en-US" sz="1050" dirty="0">
                <a:solidFill>
                  <a:srgbClr val="5C6B79"/>
                </a:solidFill>
                <a:latin typeface="Calibri" pitchFamily="34" charset="0"/>
                <a:ea typeface="Calibri" pitchFamily="34" charset="-122"/>
                <a:cs typeface="Calibri" pitchFamily="34" charset="-120"/>
              </a:rPr>
              <a:t>Not the integration step size, not simple rounding</a:t>
            </a:r>
            <a:endParaRPr lang="en-US" sz="1050" dirty="0"/>
          </a:p>
        </p:txBody>
      </p:sp>
      <p:sp>
        <p:nvSpPr>
          <p:cNvPr id="17" name="Text 15"/>
          <p:cNvSpPr txBox="1"/>
          <p:nvPr/>
        </p:nvSpPr>
        <p:spPr>
          <a:xfrm>
            <a:off x="6080760" y="2834640"/>
            <a:ext cx="411480" cy="548640"/>
          </a:xfrm>
          <a:prstGeom prst="rect">
            <a:avLst/>
          </a:prstGeom>
          <a:noFill/>
          <a:ln/>
        </p:spPr>
        <p:txBody>
          <a:bodyPr wrap="square" lIns="0" tIns="0" rIns="0" bIns="0" rtlCol="0" anchor="ctr"/>
          <a:lstStyle/>
          <a:p>
            <a:pPr algn="ctr" indent="0" marL="0">
              <a:buNone/>
            </a:pPr>
            <a:r>
              <a:rPr lang="en-US" sz="2000" b="1" dirty="0">
                <a:solidFill>
                  <a:srgbClr val="F2A541"/>
                </a:solidFill>
              </a:rPr>
              <a:t>→</a:t>
            </a:r>
            <a:endParaRPr lang="en-US" sz="2000" dirty="0"/>
          </a:p>
        </p:txBody>
      </p:sp>
      <p:sp>
        <p:nvSpPr>
          <p:cNvPr id="18" name="Shape 16"/>
          <p:cNvSpPr/>
          <p:nvPr/>
        </p:nvSpPr>
        <p:spPr>
          <a:xfrm>
            <a:off x="6492240" y="2697480"/>
            <a:ext cx="2514600" cy="1920240"/>
          </a:xfrm>
          <a:prstGeom prst="roundRect">
            <a:avLst>
              <a:gd name="adj" fmla="val 3810"/>
            </a:avLst>
          </a:prstGeom>
          <a:solidFill>
            <a:srgbClr val="FFFFFF"/>
          </a:solidFill>
          <a:ln w="12700">
            <a:solidFill>
              <a:srgbClr val="E1E8ED"/>
            </a:solidFill>
            <a:prstDash val="solid"/>
          </a:ln>
          <a:effectLst>
            <a:outerShdw sx="100000" sy="100000" kx="0" ky="0" algn="bl" rotWithShape="0" blurRad="101600" dist="25400" dir="5400000">
              <a:srgbClr val="1B2733">
                <a:alpha val="12000"/>
              </a:srgbClr>
            </a:outerShdw>
          </a:effectLst>
        </p:spPr>
      </p:sp>
      <p:sp>
        <p:nvSpPr>
          <p:cNvPr id="19" name="Shape 17"/>
          <p:cNvSpPr/>
          <p:nvPr/>
        </p:nvSpPr>
        <p:spPr>
          <a:xfrm>
            <a:off x="7475220" y="2971800"/>
            <a:ext cx="548640" cy="548640"/>
          </a:xfrm>
          <a:prstGeom prst="ellipse">
            <a:avLst/>
          </a:prstGeom>
          <a:solidFill>
            <a:srgbClr val="F2A541"/>
          </a:solidFill>
          <a:ln/>
        </p:spPr>
      </p:sp>
      <p:sp>
        <p:nvSpPr>
          <p:cNvPr id="20" name="Text 18"/>
          <p:cNvSpPr txBox="1"/>
          <p:nvPr/>
        </p:nvSpPr>
        <p:spPr>
          <a:xfrm>
            <a:off x="7475220" y="297180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21" name="Text 19"/>
          <p:cNvSpPr txBox="1"/>
          <p:nvPr/>
        </p:nvSpPr>
        <p:spPr>
          <a:xfrm>
            <a:off x="6629400" y="3657600"/>
            <a:ext cx="2240280" cy="320040"/>
          </a:xfrm>
          <a:prstGeom prst="rect">
            <a:avLst/>
          </a:prstGeom>
          <a:noFill/>
          <a:ln/>
        </p:spPr>
        <p:txBody>
          <a:bodyPr wrap="square" lIns="0" tIns="0" rIns="0" bIns="0" rtlCol="0" anchor="ctr"/>
          <a:lstStyle/>
          <a:p>
            <a:pPr algn="ctr" indent="0" marL="0">
              <a:buNone/>
            </a:pPr>
            <a:r>
              <a:rPr lang="en-US" sz="1400" b="1" dirty="0">
                <a:solidFill>
                  <a:srgbClr val="12355B"/>
                </a:solidFill>
                <a:latin typeface="Calibri" pitchFamily="34" charset="0"/>
                <a:ea typeface="Calibri" pitchFamily="34" charset="-122"/>
                <a:cs typeface="Calibri" pitchFamily="34" charset="-120"/>
              </a:rPr>
              <a:t>Root Cause</a:t>
            </a:r>
            <a:endParaRPr lang="en-US" sz="1400" dirty="0"/>
          </a:p>
        </p:txBody>
      </p:sp>
      <p:sp>
        <p:nvSpPr>
          <p:cNvPr id="22" name="Text 20"/>
          <p:cNvSpPr txBox="1"/>
          <p:nvPr/>
        </p:nvSpPr>
        <p:spPr>
          <a:xfrm>
            <a:off x="6629400" y="3959352"/>
            <a:ext cx="2240280" cy="594360"/>
          </a:xfrm>
          <a:prstGeom prst="rect">
            <a:avLst/>
          </a:prstGeom>
          <a:noFill/>
          <a:ln/>
        </p:spPr>
        <p:txBody>
          <a:bodyPr wrap="square" lIns="0" tIns="0" rIns="0" bIns="0" rtlCol="0" anchor="ctr"/>
          <a:lstStyle/>
          <a:p>
            <a:pPr algn="ctr" indent="0" marL="0">
              <a:buNone/>
            </a:pPr>
            <a:r>
              <a:rPr lang="en-US" sz="1050" dirty="0">
                <a:solidFill>
                  <a:srgbClr val="5C6B79"/>
                </a:solidFill>
                <a:latin typeface="Calibri" pitchFamily="34" charset="0"/>
                <a:ea typeface="Calibri" pitchFamily="34" charset="-122"/>
                <a:cs typeface="Calibri" pitchFamily="34" charset="-120"/>
              </a:rPr>
              <a:t>SAS's own sequential search is path-dependent under a near-step-function curve</a:t>
            </a:r>
            <a:endParaRPr lang="en-US" sz="1050" dirty="0"/>
          </a:p>
        </p:txBody>
      </p:sp>
      <p:sp>
        <p:nvSpPr>
          <p:cNvPr id="23" name="Text 21"/>
          <p:cNvSpPr txBox="1"/>
          <p:nvPr/>
        </p:nvSpPr>
        <p:spPr>
          <a:xfrm>
            <a:off x="9006840" y="2834640"/>
            <a:ext cx="411480" cy="548640"/>
          </a:xfrm>
          <a:prstGeom prst="rect">
            <a:avLst/>
          </a:prstGeom>
          <a:noFill/>
          <a:ln/>
        </p:spPr>
        <p:txBody>
          <a:bodyPr wrap="square" lIns="0" tIns="0" rIns="0" bIns="0" rtlCol="0" anchor="ctr"/>
          <a:lstStyle/>
          <a:p>
            <a:pPr algn="ctr" indent="0" marL="0">
              <a:buNone/>
            </a:pPr>
            <a:r>
              <a:rPr lang="en-US" sz="2000" b="1" dirty="0">
                <a:solidFill>
                  <a:srgbClr val="F2A541"/>
                </a:solidFill>
              </a:rPr>
              <a:t>→</a:t>
            </a:r>
            <a:endParaRPr lang="en-US" sz="2000" dirty="0"/>
          </a:p>
        </p:txBody>
      </p:sp>
      <p:sp>
        <p:nvSpPr>
          <p:cNvPr id="24" name="Shape 22"/>
          <p:cNvSpPr/>
          <p:nvPr/>
        </p:nvSpPr>
        <p:spPr>
          <a:xfrm>
            <a:off x="9418320" y="2697480"/>
            <a:ext cx="2514600" cy="1920240"/>
          </a:xfrm>
          <a:prstGeom prst="roundRect">
            <a:avLst>
              <a:gd name="adj" fmla="val 3810"/>
            </a:avLst>
          </a:prstGeom>
          <a:solidFill>
            <a:srgbClr val="FFFFFF"/>
          </a:solidFill>
          <a:ln w="12700">
            <a:solidFill>
              <a:srgbClr val="E1E8ED"/>
            </a:solidFill>
            <a:prstDash val="solid"/>
          </a:ln>
          <a:effectLst>
            <a:outerShdw sx="100000" sy="100000" kx="0" ky="0" algn="bl" rotWithShape="0" blurRad="101600" dist="25400" dir="5400000">
              <a:srgbClr val="1B2733">
                <a:alpha val="12000"/>
              </a:srgbClr>
            </a:outerShdw>
          </a:effectLst>
        </p:spPr>
      </p:sp>
      <p:sp>
        <p:nvSpPr>
          <p:cNvPr id="25" name="Shape 23"/>
          <p:cNvSpPr/>
          <p:nvPr/>
        </p:nvSpPr>
        <p:spPr>
          <a:xfrm>
            <a:off x="10401300" y="2971800"/>
            <a:ext cx="548640" cy="548640"/>
          </a:xfrm>
          <a:prstGeom prst="ellipse">
            <a:avLst/>
          </a:prstGeom>
          <a:solidFill>
            <a:srgbClr val="12355B"/>
          </a:solidFill>
          <a:ln/>
        </p:spPr>
      </p:sp>
      <p:sp>
        <p:nvSpPr>
          <p:cNvPr id="26" name="Text 24"/>
          <p:cNvSpPr txBox="1"/>
          <p:nvPr/>
        </p:nvSpPr>
        <p:spPr>
          <a:xfrm>
            <a:off x="10401300" y="297180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27" name="Text 25"/>
          <p:cNvSpPr txBox="1"/>
          <p:nvPr/>
        </p:nvSpPr>
        <p:spPr>
          <a:xfrm>
            <a:off x="9555480" y="3657600"/>
            <a:ext cx="2240280" cy="320040"/>
          </a:xfrm>
          <a:prstGeom prst="rect">
            <a:avLst/>
          </a:prstGeom>
          <a:noFill/>
          <a:ln/>
        </p:spPr>
        <p:txBody>
          <a:bodyPr wrap="square" lIns="0" tIns="0" rIns="0" bIns="0" rtlCol="0" anchor="ctr"/>
          <a:lstStyle/>
          <a:p>
            <a:pPr algn="ctr" indent="0" marL="0">
              <a:buNone/>
            </a:pPr>
            <a:r>
              <a:rPr lang="en-US" sz="1400" b="1" dirty="0">
                <a:solidFill>
                  <a:srgbClr val="12355B"/>
                </a:solidFill>
                <a:latin typeface="Calibri" pitchFamily="34" charset="0"/>
                <a:ea typeface="Calibri" pitchFamily="34" charset="-122"/>
                <a:cs typeface="Calibri" pitchFamily="34" charset="-120"/>
              </a:rPr>
              <a:t>Conclusion</a:t>
            </a:r>
            <a:endParaRPr lang="en-US" sz="1400" dirty="0"/>
          </a:p>
        </p:txBody>
      </p:sp>
      <p:sp>
        <p:nvSpPr>
          <p:cNvPr id="28" name="Text 26"/>
          <p:cNvSpPr txBox="1"/>
          <p:nvPr/>
        </p:nvSpPr>
        <p:spPr>
          <a:xfrm>
            <a:off x="9555480" y="3959352"/>
            <a:ext cx="2240280" cy="594360"/>
          </a:xfrm>
          <a:prstGeom prst="rect">
            <a:avLst/>
          </a:prstGeom>
          <a:noFill/>
          <a:ln/>
        </p:spPr>
        <p:txBody>
          <a:bodyPr wrap="square" lIns="0" tIns="0" rIns="0" bIns="0" rtlCol="0" anchor="ctr"/>
          <a:lstStyle/>
          <a:p>
            <a:pPr algn="ctr" indent="0" marL="0">
              <a:buNone/>
            </a:pPr>
            <a:r>
              <a:rPr lang="en-US" sz="1050" dirty="0">
                <a:solidFill>
                  <a:srgbClr val="5C6B79"/>
                </a:solidFill>
                <a:latin typeface="Calibri" pitchFamily="34" charset="0"/>
                <a:ea typeface="Calibri" pitchFamily="34" charset="-122"/>
                <a:cs typeface="Calibri" pitchFamily="34" charset="-120"/>
              </a:rPr>
              <a:t>Python's independent solve is the mathematically correct root</a:t>
            </a:r>
            <a:endParaRPr lang="en-US" sz="1050" dirty="0"/>
          </a:p>
        </p:txBody>
      </p:sp>
      <p:sp>
        <p:nvSpPr>
          <p:cNvPr id="29" name="Text 27"/>
          <p:cNvSpPr txBox="1"/>
          <p:nvPr/>
        </p:nvSpPr>
        <p:spPr>
          <a:xfrm>
            <a:off x="640080" y="4937760"/>
            <a:ext cx="10515600" cy="365760"/>
          </a:xfrm>
          <a:prstGeom prst="rect">
            <a:avLst/>
          </a:prstGeom>
          <a:noFill/>
          <a:ln/>
        </p:spPr>
        <p:txBody>
          <a:bodyPr wrap="square" lIns="0" tIns="0" rIns="0" bIns="0" rtlCol="0" anchor="ctr"/>
          <a:lstStyle/>
          <a:p>
            <a:pPr indent="0" marL="0">
              <a:buNone/>
            </a:pPr>
            <a:r>
              <a:rPr lang="en-US" sz="1250" i="1" dirty="0">
                <a:solidFill>
                  <a:srgbClr val="5C6B79"/>
                </a:solidFill>
                <a:latin typeface="Calibri" pitchFamily="34" charset="0"/>
                <a:ea typeface="Calibri" pitchFamily="34" charset="-122"/>
                <a:cs typeface="Calibri" pitchFamily="34" charset="-120"/>
              </a:rPr>
              <a:t>Documented in full as a standalone technical note, shared alongside the Validation Protocol.</a:t>
            </a:r>
            <a:endParaRPr lang="en-US" sz="1250" dirty="0"/>
          </a:p>
        </p:txBody>
      </p:sp>
      <p:sp>
        <p:nvSpPr>
          <p:cNvPr id="30" name="Text 28"/>
          <p:cNvSpPr txBox="1"/>
          <p:nvPr/>
        </p:nvSpPr>
        <p:spPr>
          <a:xfrm>
            <a:off x="11548872" y="6446520"/>
            <a:ext cx="365760" cy="274320"/>
          </a:xfrm>
          <a:prstGeom prst="rect">
            <a:avLst/>
          </a:prstGeom>
          <a:noFill/>
          <a:ln/>
        </p:spPr>
        <p:txBody>
          <a:bodyPr wrap="square" lIns="0" tIns="0" rIns="0" bIns="0" rtlCol="0" anchor="ctr"/>
          <a:lstStyle/>
          <a:p>
            <a:pPr algn="r" indent="0" marL="0">
              <a:buNone/>
            </a:pPr>
            <a:r>
              <a:rPr lang="en-US" sz="1000" dirty="0">
                <a:solidFill>
                  <a:srgbClr val="5C6B79"/>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2355B"/>
          </a:solidFill>
          <a:ln/>
        </p:spPr>
      </p:sp>
      <p:sp>
        <p:nvSpPr>
          <p:cNvPr id="3" name="Shape 1"/>
          <p:cNvSpPr/>
          <p:nvPr/>
        </p:nvSpPr>
        <p:spPr>
          <a:xfrm>
            <a:off x="-2286000" y="-2286000"/>
            <a:ext cx="5486400" cy="5486400"/>
          </a:xfrm>
          <a:prstGeom prst="ellipse">
            <a:avLst/>
          </a:prstGeom>
          <a:solidFill>
            <a:srgbClr val="0B2440"/>
          </a:solidFill>
          <a:ln/>
        </p:spPr>
      </p:sp>
      <p:sp>
        <p:nvSpPr>
          <p:cNvPr id="4" name="Shape 2"/>
          <p:cNvSpPr/>
          <p:nvPr/>
        </p:nvSpPr>
        <p:spPr>
          <a:xfrm>
            <a:off x="9601200" y="3200400"/>
            <a:ext cx="5029200" cy="5029200"/>
          </a:xfrm>
          <a:prstGeom prst="ellipse">
            <a:avLst/>
          </a:prstGeom>
          <a:solidFill>
            <a:srgbClr val="1C7293"/>
          </a:solidFill>
          <a:ln/>
        </p:spPr>
      </p:sp>
      <p:sp>
        <p:nvSpPr>
          <p:cNvPr id="5" name="Text 3"/>
          <p:cNvSpPr txBox="1"/>
          <p:nvPr/>
        </p:nvSpPr>
        <p:spPr>
          <a:xfrm>
            <a:off x="640080" y="457200"/>
            <a:ext cx="7315200" cy="320040"/>
          </a:xfrm>
          <a:prstGeom prst="rect">
            <a:avLst/>
          </a:prstGeom>
          <a:noFill/>
          <a:ln/>
        </p:spPr>
        <p:txBody>
          <a:bodyPr wrap="square" lIns="0" tIns="0" rIns="0" bIns="0" rtlCol="0" anchor="ctr"/>
          <a:lstStyle/>
          <a:p>
            <a:pPr indent="0" marL="0">
              <a:buNone/>
            </a:pPr>
            <a:r>
              <a:rPr lang="en-US" sz="1300" b="1" spc="200" kern="0" dirty="0">
                <a:solidFill>
                  <a:srgbClr val="F2A541"/>
                </a:solidFill>
                <a:latin typeface="Calibri" pitchFamily="34" charset="0"/>
                <a:ea typeface="Calibri" pitchFamily="34" charset="-122"/>
                <a:cs typeface="Calibri" pitchFamily="34" charset="-120"/>
              </a:rPr>
              <a:t>INDEPENDENT VERIFICATION</a:t>
            </a:r>
            <a:endParaRPr lang="en-US" sz="1300" dirty="0"/>
          </a:p>
        </p:txBody>
      </p:sp>
      <p:sp>
        <p:nvSpPr>
          <p:cNvPr id="6" name="Text 4"/>
          <p:cNvSpPr txBox="1"/>
          <p:nvPr/>
        </p:nvSpPr>
        <p:spPr>
          <a:xfrm>
            <a:off x="640080" y="777240"/>
            <a:ext cx="10515600" cy="82296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Double-Checked in a Second Language</a:t>
            </a:r>
            <a:endParaRPr lang="en-US" sz="3400" dirty="0"/>
          </a:p>
        </p:txBody>
      </p:sp>
      <p:sp>
        <p:nvSpPr>
          <p:cNvPr id="7" name="Text 5"/>
          <p:cNvSpPr txBox="1"/>
          <p:nvPr/>
        </p:nvSpPr>
        <p:spPr>
          <a:xfrm>
            <a:off x="640080" y="1737360"/>
            <a:ext cx="6035040" cy="1463040"/>
          </a:xfrm>
          <a:prstGeom prst="rect">
            <a:avLst/>
          </a:prstGeom>
          <a:noFill/>
          <a:ln/>
        </p:spPr>
        <p:txBody>
          <a:bodyPr wrap="square" lIns="0" tIns="0" rIns="0" bIns="0" rtlCol="0" anchor="ctr"/>
          <a:lstStyle/>
          <a:p>
            <a:pPr indent="0" marL="0">
              <a:buNone/>
            </a:pPr>
            <a:r>
              <a:rPr lang="en-US" sz="1500" dirty="0">
                <a:solidFill>
                  <a:srgbClr val="CFE3ED"/>
                </a:solidFill>
                <a:latin typeface="Calibri" pitchFamily="34" charset="0"/>
                <a:ea typeface="Calibri" pitchFamily="34" charset="-122"/>
                <a:cs typeface="Calibri" pitchFamily="34" charset="-120"/>
              </a:rPr>
              <a:t>A separate R implementation of the CUSP1 and CUSP2 math was built independently, then run against the exact same shared test data set — giving us agreement from a language and codebase with no shared bugs.</a:t>
            </a:r>
            <a:endParaRPr lang="en-US" sz="1500" dirty="0"/>
          </a:p>
        </p:txBody>
      </p:sp>
      <p:sp>
        <p:nvSpPr>
          <p:cNvPr id="8" name="Text 6"/>
          <p:cNvSpPr txBox="1"/>
          <p:nvPr/>
        </p:nvSpPr>
        <p:spPr>
          <a:xfrm>
            <a:off x="640080" y="3291840"/>
            <a:ext cx="6035040" cy="2286000"/>
          </a:xfrm>
          <a:prstGeom prst="rect">
            <a:avLst/>
          </a:prstGeom>
          <a:noFill/>
          <a:ln/>
        </p:spPr>
        <p:txBody>
          <a:bodyPr wrap="square" lIns="0" tIns="0" rIns="0" bIns="0" rtlCol="0" anchor="t"/>
          <a:lstStyle/>
          <a:p>
            <a:pPr marL="228600" indent="-228600">
              <a:spcAft>
                <a:spcPts val="1200"/>
              </a:spcAft>
              <a:buSzPct val="100000"/>
              <a:buChar char="•"/>
            </a:pPr>
            <a:r>
              <a:rPr lang="en-US" sz="1350" dirty="0">
                <a:solidFill>
                  <a:srgbClr val="CFE3ED"/>
                </a:solidFill>
                <a:latin typeface="Calibri" pitchFamily="34" charset="0"/>
                <a:ea typeface="Calibri" pitchFamily="34" charset="-122"/>
                <a:cs typeface="Calibri" pitchFamily="34" charset="-120"/>
              </a:rPr>
              <a:t>Same formulas re-derived independently in R, documented for peer review</a:t>
            </a:r>
            <a:endParaRPr lang="en-US" sz="1350" dirty="0"/>
          </a:p>
          <a:p>
            <a:pPr marL="228600" indent="-228600">
              <a:spcAft>
                <a:spcPts val="1200"/>
              </a:spcAft>
              <a:buSzPct val="100000"/>
              <a:buChar char="•"/>
            </a:pPr>
            <a:r>
              <a:rPr lang="en-US" sz="1350" dirty="0">
                <a:solidFill>
                  <a:srgbClr val="CFE3ED"/>
                </a:solidFill>
                <a:latin typeface="Calibri" pitchFamily="34" charset="0"/>
                <a:ea typeface="Calibri" pitchFamily="34" charset="-122"/>
                <a:cs typeface="Calibri" pitchFamily="34" charset="-120"/>
              </a:rPr>
              <a:t>Run against every case in the shared Appendix G test data set</a:t>
            </a:r>
            <a:endParaRPr lang="en-US" sz="1350" dirty="0"/>
          </a:p>
          <a:p>
            <a:pPr marL="228600" indent="-228600">
              <a:spcAft>
                <a:spcPts val="1200"/>
              </a:spcAft>
              <a:buSzPct val="100000"/>
              <a:buChar char="•"/>
            </a:pPr>
            <a:r>
              <a:rPr lang="en-US" sz="1350" dirty="0">
                <a:solidFill>
                  <a:srgbClr val="CFE3ED"/>
                </a:solidFill>
                <a:latin typeface="Calibri" pitchFamily="34" charset="0"/>
                <a:ea typeface="Calibri" pitchFamily="34" charset="-122"/>
                <a:cs typeface="Calibri" pitchFamily="34" charset="-120"/>
              </a:rPr>
              <a:t>Every result agreed with PyCuDAL within numerical tolerance</a:t>
            </a:r>
            <a:endParaRPr lang="en-US" sz="1350" dirty="0"/>
          </a:p>
        </p:txBody>
      </p:sp>
      <p:sp>
        <p:nvSpPr>
          <p:cNvPr id="9" name="Shape 7"/>
          <p:cNvSpPr/>
          <p:nvPr/>
        </p:nvSpPr>
        <p:spPr>
          <a:xfrm>
            <a:off x="7406640" y="2011680"/>
            <a:ext cx="4114800" cy="3566160"/>
          </a:xfrm>
          <a:prstGeom prst="roundRect">
            <a:avLst>
              <a:gd name="adj" fmla="val 2564"/>
            </a:avLst>
          </a:prstGeom>
          <a:solidFill>
            <a:srgbClr val="0B2440"/>
          </a:solidFill>
          <a:ln w="12700">
            <a:solidFill>
              <a:srgbClr val="1C7293"/>
            </a:solidFill>
            <a:prstDash val="solid"/>
          </a:ln>
        </p:spPr>
      </p:sp>
      <p:sp>
        <p:nvSpPr>
          <p:cNvPr id="10" name="Text 8"/>
          <p:cNvSpPr txBox="1"/>
          <p:nvPr/>
        </p:nvSpPr>
        <p:spPr>
          <a:xfrm>
            <a:off x="7406640" y="2651760"/>
            <a:ext cx="4114800" cy="1188720"/>
          </a:xfrm>
          <a:prstGeom prst="rect">
            <a:avLst/>
          </a:prstGeom>
          <a:noFill/>
          <a:ln/>
        </p:spPr>
        <p:txBody>
          <a:bodyPr wrap="square" lIns="0" tIns="0" rIns="0" bIns="0" rtlCol="0" anchor="ctr"/>
          <a:lstStyle/>
          <a:p>
            <a:pPr algn="ctr" indent="0" marL="0">
              <a:buNone/>
            </a:pPr>
            <a:r>
              <a:rPr lang="en-US" sz="6400" b="1" dirty="0">
                <a:solidFill>
                  <a:srgbClr val="F2A541"/>
                </a:solidFill>
                <a:latin typeface="Cambria" pitchFamily="34" charset="0"/>
                <a:ea typeface="Cambria" pitchFamily="34" charset="-122"/>
                <a:cs typeface="Cambria" pitchFamily="34" charset="-120"/>
              </a:rPr>
              <a:t>86 / 86</a:t>
            </a:r>
            <a:endParaRPr lang="en-US" sz="6400" dirty="0"/>
          </a:p>
        </p:txBody>
      </p:sp>
      <p:sp>
        <p:nvSpPr>
          <p:cNvPr id="11" name="Text 9"/>
          <p:cNvSpPr txBox="1"/>
          <p:nvPr/>
        </p:nvSpPr>
        <p:spPr>
          <a:xfrm>
            <a:off x="7406640" y="3840480"/>
            <a:ext cx="4114800" cy="411480"/>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test cases matched</a:t>
            </a:r>
            <a:endParaRPr lang="en-US" sz="1600" dirty="0"/>
          </a:p>
        </p:txBody>
      </p:sp>
      <p:sp>
        <p:nvSpPr>
          <p:cNvPr id="12" name="Text 10"/>
          <p:cNvSpPr txBox="1"/>
          <p:nvPr/>
        </p:nvSpPr>
        <p:spPr>
          <a:xfrm>
            <a:off x="7772400" y="4343400"/>
            <a:ext cx="3383280" cy="640080"/>
          </a:xfrm>
          <a:prstGeom prst="rect">
            <a:avLst/>
          </a:prstGeom>
          <a:noFill/>
          <a:ln/>
        </p:spPr>
        <p:txBody>
          <a:bodyPr wrap="square" lIns="0" tIns="0" rIns="0" bIns="0" rtlCol="0" anchor="ctr"/>
          <a:lstStyle/>
          <a:p>
            <a:pPr algn="ctr" indent="0" marL="0">
              <a:buNone/>
            </a:pPr>
            <a:r>
              <a:rPr lang="en-US" sz="1150" i="1" dirty="0">
                <a:solidFill>
                  <a:srgbClr val="CFE3ED"/>
                </a:solidFill>
                <a:latin typeface="Calibri" pitchFamily="34" charset="0"/>
                <a:ea typeface="Calibri" pitchFamily="34" charset="-122"/>
                <a:cs typeface="Calibri" pitchFamily="34" charset="-120"/>
              </a:rPr>
              <a:t>CUSP1 + CUSP2, across the full shared test data set</a:t>
            </a:r>
            <a:endParaRPr lang="en-US" sz="1150" dirty="0"/>
          </a:p>
        </p:txBody>
      </p:sp>
      <p:sp>
        <p:nvSpPr>
          <p:cNvPr id="13" name="Text 11"/>
          <p:cNvSpPr txBox="1"/>
          <p:nvPr/>
        </p:nvSpPr>
        <p:spPr>
          <a:xfrm>
            <a:off x="11548872" y="6446520"/>
            <a:ext cx="365760" cy="274320"/>
          </a:xfrm>
          <a:prstGeom prst="rect">
            <a:avLst/>
          </a:prstGeom>
          <a:noFill/>
          <a:ln/>
        </p:spPr>
        <p:txBody>
          <a:bodyPr wrap="square" lIns="0" tIns="0" rIns="0" bIns="0" rtlCol="0" anchor="ctr"/>
          <a:lstStyle/>
          <a:p>
            <a:pPr algn="r" indent="0" marL="0">
              <a:buNone/>
            </a:pPr>
            <a:r>
              <a:rPr lang="en-US" sz="1000" dirty="0">
                <a:solidFill>
                  <a:srgbClr val="CFE3ED"/>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5F8FA"/>
          </a:solidFill>
          <a:ln/>
        </p:spPr>
      </p:sp>
      <p:sp>
        <p:nvSpPr>
          <p:cNvPr id="3" name="Text 1"/>
          <p:cNvSpPr txBox="1"/>
          <p:nvPr/>
        </p:nvSpPr>
        <p:spPr>
          <a:xfrm>
            <a:off x="640080" y="457200"/>
            <a:ext cx="7315200" cy="320040"/>
          </a:xfrm>
          <a:prstGeom prst="rect">
            <a:avLst/>
          </a:prstGeom>
          <a:noFill/>
          <a:ln/>
        </p:spPr>
        <p:txBody>
          <a:bodyPr wrap="square" lIns="0" tIns="0" rIns="0" bIns="0" rtlCol="0" anchor="ctr"/>
          <a:lstStyle/>
          <a:p>
            <a:pPr indent="0" marL="0">
              <a:buNone/>
            </a:pPr>
            <a:r>
              <a:rPr lang="en-US" sz="1300" b="1" spc="200" kern="0" dirty="0">
                <a:solidFill>
                  <a:srgbClr val="F2A541"/>
                </a:solidFill>
                <a:latin typeface="Calibri" pitchFamily="34" charset="0"/>
                <a:ea typeface="Calibri" pitchFamily="34" charset="-122"/>
                <a:cs typeface="Calibri" pitchFamily="34" charset="-120"/>
              </a:rPr>
              <a:t>VALIDATION</a:t>
            </a:r>
            <a:endParaRPr lang="en-US" sz="1300" dirty="0"/>
          </a:p>
        </p:txBody>
      </p:sp>
      <p:sp>
        <p:nvSpPr>
          <p:cNvPr id="4" name="Text 2"/>
          <p:cNvSpPr txBox="1"/>
          <p:nvPr/>
        </p:nvSpPr>
        <p:spPr>
          <a:xfrm>
            <a:off x="640080" y="777240"/>
            <a:ext cx="10515600" cy="822960"/>
          </a:xfrm>
          <a:prstGeom prst="rect">
            <a:avLst/>
          </a:prstGeom>
          <a:noFill/>
          <a:ln/>
        </p:spPr>
        <p:txBody>
          <a:bodyPr wrap="square" lIns="0" tIns="0" rIns="0" bIns="0" rtlCol="0" anchor="ctr"/>
          <a:lstStyle/>
          <a:p>
            <a:pPr indent="0" marL="0">
              <a:buNone/>
            </a:pPr>
            <a:r>
              <a:rPr lang="en-US" sz="3400" b="1" dirty="0">
                <a:solidFill>
                  <a:srgbClr val="12355B"/>
                </a:solidFill>
                <a:latin typeface="Cambria" pitchFamily="34" charset="0"/>
                <a:ea typeface="Cambria" pitchFamily="34" charset="-122"/>
                <a:cs typeface="Cambria" pitchFamily="34" charset="-120"/>
              </a:rPr>
              <a:t>A Real Validation Package</a:t>
            </a:r>
            <a:endParaRPr lang="en-US" sz="3400" dirty="0"/>
          </a:p>
        </p:txBody>
      </p:sp>
      <p:sp>
        <p:nvSpPr>
          <p:cNvPr id="5" name="Shape 3"/>
          <p:cNvSpPr/>
          <p:nvPr/>
        </p:nvSpPr>
        <p:spPr>
          <a:xfrm>
            <a:off x="640080" y="1965960"/>
            <a:ext cx="5394960" cy="4114800"/>
          </a:xfrm>
          <a:prstGeom prst="roundRect">
            <a:avLst>
              <a:gd name="adj" fmla="val 1778"/>
            </a:avLst>
          </a:prstGeom>
          <a:solidFill>
            <a:srgbClr val="FFFFFF"/>
          </a:solidFill>
          <a:ln w="12700">
            <a:solidFill>
              <a:srgbClr val="E1E8ED"/>
            </a:solidFill>
            <a:prstDash val="solid"/>
          </a:ln>
          <a:effectLst>
            <a:outerShdw sx="100000" sy="100000" kx="0" ky="0" algn="bl" rotWithShape="0" blurRad="101600" dist="25400" dir="5400000">
              <a:srgbClr val="1B2733">
                <a:alpha val="12000"/>
              </a:srgbClr>
            </a:outerShdw>
          </a:effectLst>
        </p:spPr>
      </p:sp>
      <p:sp>
        <p:nvSpPr>
          <p:cNvPr id="6" name="Text 4"/>
          <p:cNvSpPr txBox="1"/>
          <p:nvPr/>
        </p:nvSpPr>
        <p:spPr>
          <a:xfrm>
            <a:off x="960120" y="2194560"/>
            <a:ext cx="4754880" cy="320040"/>
          </a:xfrm>
          <a:prstGeom prst="rect">
            <a:avLst/>
          </a:prstGeom>
          <a:noFill/>
          <a:ln/>
        </p:spPr>
        <p:txBody>
          <a:bodyPr wrap="square" lIns="0" tIns="0" rIns="0" bIns="0" rtlCol="0" anchor="ctr"/>
          <a:lstStyle/>
          <a:p>
            <a:pPr indent="0" marL="0">
              <a:buNone/>
            </a:pPr>
            <a:r>
              <a:rPr lang="en-US" sz="1500" b="1" dirty="0">
                <a:solidFill>
                  <a:srgbClr val="12355B"/>
                </a:solidFill>
                <a:latin typeface="Calibri" pitchFamily="34" charset="0"/>
                <a:ea typeface="Calibri" pitchFamily="34" charset="-122"/>
                <a:cs typeface="Calibri" pitchFamily="34" charset="-120"/>
              </a:rPr>
              <a:t>Appendices</a:t>
            </a:r>
            <a:endParaRPr lang="en-US" sz="1500" dirty="0"/>
          </a:p>
        </p:txBody>
      </p:sp>
      <p:sp>
        <p:nvSpPr>
          <p:cNvPr id="7" name="Text 5"/>
          <p:cNvSpPr txBox="1"/>
          <p:nvPr/>
        </p:nvSpPr>
        <p:spPr>
          <a:xfrm>
            <a:off x="960120" y="2606040"/>
            <a:ext cx="4754880" cy="3291840"/>
          </a:xfrm>
          <a:prstGeom prst="rect">
            <a:avLst/>
          </a:prstGeom>
          <a:noFill/>
          <a:ln/>
        </p:spPr>
        <p:txBody>
          <a:bodyPr wrap="square" lIns="0" tIns="0" rIns="0" bIns="0" rtlCol="0" anchor="t"/>
          <a:lstStyle/>
          <a:p>
            <a:pPr marL="228600" indent="-228600">
              <a:spcAft>
                <a:spcPts val="800"/>
              </a:spcAft>
              <a:buSzPct val="100000"/>
              <a:buChar char="•"/>
            </a:pPr>
            <a:r>
              <a:rPr lang="en-US" sz="1300" dirty="0">
                <a:solidFill>
                  <a:srgbClr val="16232E"/>
                </a:solidFill>
                <a:latin typeface="Calibri" pitchFamily="34" charset="0"/>
                <a:ea typeface="Calibri" pitchFamily="34" charset="-122"/>
                <a:cs typeface="Calibri" pitchFamily="34" charset="-120"/>
              </a:rPr>
              <a:t>A — Program Listing</a:t>
            </a:r>
            <a:endParaRPr lang="en-US" sz="1300" dirty="0"/>
          </a:p>
          <a:p>
            <a:pPr marL="228600" indent="-228600">
              <a:spcAft>
                <a:spcPts val="800"/>
              </a:spcAft>
              <a:buSzPct val="100000"/>
              <a:buChar char="•"/>
            </a:pPr>
            <a:r>
              <a:rPr lang="en-US" sz="1300" dirty="0">
                <a:solidFill>
                  <a:srgbClr val="16232E"/>
                </a:solidFill>
                <a:latin typeface="Calibri" pitchFamily="34" charset="0"/>
                <a:ea typeface="Calibri" pitchFamily="34" charset="-122"/>
                <a:cs typeface="Calibri" pitchFamily="34" charset="-120"/>
              </a:rPr>
              <a:t>B — Primary Windows</a:t>
            </a:r>
            <a:endParaRPr lang="en-US" sz="1300" dirty="0"/>
          </a:p>
          <a:p>
            <a:pPr marL="228600" indent="-228600">
              <a:spcAft>
                <a:spcPts val="800"/>
              </a:spcAft>
              <a:buSzPct val="100000"/>
              <a:buChar char="•"/>
            </a:pPr>
            <a:r>
              <a:rPr lang="en-US" sz="1300" dirty="0">
                <a:solidFill>
                  <a:srgbClr val="16232E"/>
                </a:solidFill>
                <a:latin typeface="Calibri" pitchFamily="34" charset="0"/>
                <a:ea typeface="Calibri" pitchFamily="34" charset="-122"/>
                <a:cs typeface="Calibri" pitchFamily="34" charset="-120"/>
              </a:rPr>
              <a:t>C — Default Output for Analysis (R Code)</a:t>
            </a:r>
            <a:endParaRPr lang="en-US" sz="1300" dirty="0"/>
          </a:p>
          <a:p>
            <a:pPr marL="228600" indent="-228600">
              <a:spcAft>
                <a:spcPts val="800"/>
              </a:spcAft>
              <a:buSzPct val="100000"/>
              <a:buChar char="•"/>
            </a:pPr>
            <a:r>
              <a:rPr lang="en-US" sz="1300" dirty="0">
                <a:solidFill>
                  <a:srgbClr val="16232E"/>
                </a:solidFill>
                <a:latin typeface="Calibri" pitchFamily="34" charset="0"/>
                <a:ea typeface="Calibri" pitchFamily="34" charset="-122"/>
                <a:cs typeface="Calibri" pitchFamily="34" charset="-120"/>
              </a:rPr>
              <a:t>D — Navigation and Error Checks</a:t>
            </a:r>
            <a:endParaRPr lang="en-US" sz="1300" dirty="0"/>
          </a:p>
          <a:p>
            <a:pPr marL="228600" indent="-228600">
              <a:spcAft>
                <a:spcPts val="800"/>
              </a:spcAft>
              <a:buSzPct val="100000"/>
              <a:buChar char="•"/>
            </a:pPr>
            <a:r>
              <a:rPr lang="en-US" sz="1300" dirty="0">
                <a:solidFill>
                  <a:srgbClr val="16232E"/>
                </a:solidFill>
                <a:latin typeface="Calibri" pitchFamily="34" charset="0"/>
                <a:ea typeface="Calibri" pitchFamily="34" charset="-122"/>
                <a:cs typeface="Calibri" pitchFamily="34" charset="-120"/>
              </a:rPr>
              <a:t>E — Math / Lower Bound Calculations</a:t>
            </a:r>
            <a:endParaRPr lang="en-US" sz="1300" dirty="0"/>
          </a:p>
          <a:p>
            <a:pPr marL="228600" indent="-228600">
              <a:spcAft>
                <a:spcPts val="800"/>
              </a:spcAft>
              <a:buSzPct val="100000"/>
              <a:buChar char="•"/>
            </a:pPr>
            <a:r>
              <a:rPr lang="en-US" sz="1300" dirty="0">
                <a:solidFill>
                  <a:srgbClr val="16232E"/>
                </a:solidFill>
                <a:latin typeface="Calibri" pitchFamily="34" charset="0"/>
                <a:ea typeface="Calibri" pitchFamily="34" charset="-122"/>
                <a:cs typeface="Calibri" pitchFamily="34" charset="-120"/>
              </a:rPr>
              <a:t>F — Program Description</a:t>
            </a:r>
            <a:endParaRPr lang="en-US" sz="1300" dirty="0"/>
          </a:p>
          <a:p>
            <a:pPr marL="228600" indent="-228600">
              <a:spcAft>
                <a:spcPts val="800"/>
              </a:spcAft>
              <a:buSzPct val="100000"/>
              <a:buChar char="•"/>
            </a:pPr>
            <a:r>
              <a:rPr lang="en-US" sz="1300" dirty="0">
                <a:solidFill>
                  <a:srgbClr val="16232E"/>
                </a:solidFill>
                <a:latin typeface="Calibri" pitchFamily="34" charset="0"/>
                <a:ea typeface="Calibri" pitchFamily="34" charset="-122"/>
                <a:cs typeface="Calibri" pitchFamily="34" charset="-120"/>
              </a:rPr>
              <a:t>G — Program Test Data Sets</a:t>
            </a:r>
            <a:endParaRPr lang="en-US" sz="1300" dirty="0"/>
          </a:p>
          <a:p>
            <a:pPr marL="228600" indent="-228600">
              <a:spcAft>
                <a:spcPts val="800"/>
              </a:spcAft>
              <a:buSzPct val="100000"/>
              <a:buChar char="•"/>
            </a:pPr>
            <a:r>
              <a:rPr lang="en-US" sz="1300" dirty="0">
                <a:solidFill>
                  <a:srgbClr val="16232E"/>
                </a:solidFill>
                <a:latin typeface="Calibri" pitchFamily="34" charset="0"/>
                <a:ea typeface="Calibri" pitchFamily="34" charset="-122"/>
                <a:cs typeface="Calibri" pitchFamily="34" charset="-120"/>
              </a:rPr>
              <a:t>H — Curriculum Vitae’s</a:t>
            </a:r>
            <a:endParaRPr lang="en-US" sz="1300" dirty="0"/>
          </a:p>
        </p:txBody>
      </p:sp>
      <p:sp>
        <p:nvSpPr>
          <p:cNvPr id="8" name="Shape 6"/>
          <p:cNvSpPr/>
          <p:nvPr/>
        </p:nvSpPr>
        <p:spPr>
          <a:xfrm>
            <a:off x="6309360" y="1965960"/>
            <a:ext cx="5257800" cy="4114800"/>
          </a:xfrm>
          <a:prstGeom prst="roundRect">
            <a:avLst>
              <a:gd name="adj" fmla="val 1778"/>
            </a:avLst>
          </a:prstGeom>
          <a:solidFill>
            <a:srgbClr val="FFFFFF"/>
          </a:solidFill>
          <a:ln w="12700">
            <a:solidFill>
              <a:srgbClr val="E1E8ED"/>
            </a:solidFill>
            <a:prstDash val="solid"/>
          </a:ln>
          <a:effectLst>
            <a:outerShdw sx="100000" sy="100000" kx="0" ky="0" algn="bl" rotWithShape="0" blurRad="101600" dist="25400" dir="5400000">
              <a:srgbClr val="1B2733">
                <a:alpha val="12000"/>
              </a:srgbClr>
            </a:outerShdw>
          </a:effectLst>
        </p:spPr>
      </p:sp>
      <p:sp>
        <p:nvSpPr>
          <p:cNvPr id="9" name="Text 7"/>
          <p:cNvSpPr txBox="1"/>
          <p:nvPr/>
        </p:nvSpPr>
        <p:spPr>
          <a:xfrm>
            <a:off x="6629400" y="2194560"/>
            <a:ext cx="4617720" cy="320040"/>
          </a:xfrm>
          <a:prstGeom prst="rect">
            <a:avLst/>
          </a:prstGeom>
          <a:noFill/>
          <a:ln/>
        </p:spPr>
        <p:txBody>
          <a:bodyPr wrap="square" lIns="0" tIns="0" rIns="0" bIns="0" rtlCol="0" anchor="ctr"/>
          <a:lstStyle/>
          <a:p>
            <a:pPr indent="0" marL="0">
              <a:buNone/>
            </a:pPr>
            <a:r>
              <a:rPr lang="en-US" sz="1500" b="1" dirty="0">
                <a:solidFill>
                  <a:srgbClr val="12355B"/>
                </a:solidFill>
                <a:latin typeface="Calibri" pitchFamily="34" charset="0"/>
                <a:ea typeface="Calibri" pitchFamily="34" charset="-122"/>
                <a:cs typeface="Calibri" pitchFamily="34" charset="-120"/>
              </a:rPr>
              <a:t>Forms</a:t>
            </a:r>
            <a:endParaRPr lang="en-US" sz="1500" dirty="0"/>
          </a:p>
        </p:txBody>
      </p:sp>
      <p:sp>
        <p:nvSpPr>
          <p:cNvPr id="10" name="Text 8"/>
          <p:cNvSpPr txBox="1"/>
          <p:nvPr/>
        </p:nvSpPr>
        <p:spPr>
          <a:xfrm>
            <a:off x="6629400" y="2606040"/>
            <a:ext cx="4617720" cy="2377440"/>
          </a:xfrm>
          <a:prstGeom prst="rect">
            <a:avLst/>
          </a:prstGeom>
          <a:noFill/>
          <a:ln/>
        </p:spPr>
        <p:txBody>
          <a:bodyPr wrap="square" lIns="0" tIns="0" rIns="0" bIns="0" rtlCol="0" anchor="t"/>
          <a:lstStyle/>
          <a:p>
            <a:pPr marL="228600" indent="-228600">
              <a:spcAft>
                <a:spcPts val="800"/>
              </a:spcAft>
              <a:buSzPct val="100000"/>
              <a:buChar char="•"/>
            </a:pPr>
            <a:r>
              <a:rPr lang="en-US" sz="1300" dirty="0">
                <a:solidFill>
                  <a:srgbClr val="16232E"/>
                </a:solidFill>
                <a:latin typeface="Calibri" pitchFamily="34" charset="0"/>
                <a:ea typeface="Calibri" pitchFamily="34" charset="-122"/>
                <a:cs typeface="Calibri" pitchFamily="34" charset="-120"/>
              </a:rPr>
              <a:t>1 — Load and Run Program</a:t>
            </a:r>
            <a:endParaRPr lang="en-US" sz="1300" dirty="0"/>
          </a:p>
          <a:p>
            <a:pPr marL="228600" indent="-228600">
              <a:spcAft>
                <a:spcPts val="800"/>
              </a:spcAft>
              <a:buSzPct val="100000"/>
              <a:buChar char="•"/>
            </a:pPr>
            <a:r>
              <a:rPr lang="en-US" sz="1300" dirty="0">
                <a:solidFill>
                  <a:srgbClr val="16232E"/>
                </a:solidFill>
                <a:latin typeface="Calibri" pitchFamily="34" charset="0"/>
                <a:ea typeface="Calibri" pitchFamily="34" charset="-122"/>
                <a:cs typeface="Calibri" pitchFamily="34" charset="-120"/>
              </a:rPr>
              <a:t>2 — Primary Window Navigation</a:t>
            </a:r>
            <a:endParaRPr lang="en-US" sz="1300" dirty="0"/>
          </a:p>
          <a:p>
            <a:pPr marL="228600" indent="-228600">
              <a:spcAft>
                <a:spcPts val="800"/>
              </a:spcAft>
              <a:buSzPct val="100000"/>
              <a:buChar char="•"/>
            </a:pPr>
            <a:r>
              <a:rPr lang="en-US" sz="1300" dirty="0">
                <a:solidFill>
                  <a:srgbClr val="16232E"/>
                </a:solidFill>
                <a:latin typeface="Calibri" pitchFamily="34" charset="0"/>
                <a:ea typeface="Calibri" pitchFamily="34" charset="-122"/>
                <a:cs typeface="Calibri" pitchFamily="34" charset="-120"/>
              </a:rPr>
              <a:t>3 — Program Strategy / Python Code Verification</a:t>
            </a:r>
            <a:endParaRPr lang="en-US" sz="1300" dirty="0"/>
          </a:p>
          <a:p>
            <a:pPr marL="228600" indent="-228600">
              <a:spcAft>
                <a:spcPts val="800"/>
              </a:spcAft>
              <a:buSzPct val="100000"/>
              <a:buChar char="•"/>
            </a:pPr>
            <a:r>
              <a:rPr lang="en-US" sz="1300" dirty="0">
                <a:solidFill>
                  <a:srgbClr val="16232E"/>
                </a:solidFill>
                <a:latin typeface="Calibri" pitchFamily="34" charset="0"/>
                <a:ea typeface="Calibri" pitchFamily="34" charset="-122"/>
                <a:cs typeface="Calibri" pitchFamily="34" charset="-120"/>
              </a:rPr>
              <a:t>4 — Test Data Agreement</a:t>
            </a:r>
            <a:endParaRPr lang="en-US" sz="1300" dirty="0"/>
          </a:p>
          <a:p>
            <a:pPr marL="228600" indent="-228600">
              <a:spcAft>
                <a:spcPts val="800"/>
              </a:spcAft>
              <a:buSzPct val="100000"/>
              <a:buChar char="•"/>
            </a:pPr>
            <a:r>
              <a:rPr lang="en-US" sz="1300" dirty="0">
                <a:solidFill>
                  <a:srgbClr val="16232E"/>
                </a:solidFill>
                <a:latin typeface="Calibri" pitchFamily="34" charset="0"/>
                <a:ea typeface="Calibri" pitchFamily="34" charset="-122"/>
                <a:cs typeface="Calibri" pitchFamily="34" charset="-120"/>
              </a:rPr>
              <a:t>5 — Problem / Request Report</a:t>
            </a:r>
            <a:endParaRPr lang="en-US" sz="1300" dirty="0"/>
          </a:p>
        </p:txBody>
      </p:sp>
      <p:sp>
        <p:nvSpPr>
          <p:cNvPr id="11" name="Text 9"/>
          <p:cNvSpPr txBox="1"/>
          <p:nvPr/>
        </p:nvSpPr>
        <p:spPr>
          <a:xfrm>
            <a:off x="6629400" y="5029200"/>
            <a:ext cx="4617720" cy="822960"/>
          </a:xfrm>
          <a:prstGeom prst="rect">
            <a:avLst/>
          </a:prstGeom>
          <a:noFill/>
          <a:ln/>
        </p:spPr>
        <p:txBody>
          <a:bodyPr wrap="square" lIns="0" tIns="0" rIns="0" bIns="0" rtlCol="0" anchor="ctr"/>
          <a:lstStyle/>
          <a:p>
            <a:pPr indent="0" marL="0">
              <a:buNone/>
            </a:pPr>
            <a:r>
              <a:rPr lang="en-US" sz="1200" i="1" dirty="0">
                <a:solidFill>
                  <a:srgbClr val="5C6B79"/>
                </a:solidFill>
                <a:latin typeface="Calibri" pitchFamily="34" charset="0"/>
                <a:ea typeface="Calibri" pitchFamily="34" charset="-122"/>
                <a:cs typeface="Calibri" pitchFamily="34" charset="-120"/>
              </a:rPr>
              <a:t>Plus: a full User Manual, and a standalone Annexure covering the CUSP2 investigation.</a:t>
            </a:r>
            <a:endParaRPr lang="en-US" sz="1200" dirty="0"/>
          </a:p>
        </p:txBody>
      </p:sp>
      <p:sp>
        <p:nvSpPr>
          <p:cNvPr id="12" name="Text 10"/>
          <p:cNvSpPr txBox="1"/>
          <p:nvPr/>
        </p:nvSpPr>
        <p:spPr>
          <a:xfrm>
            <a:off x="11548872" y="6446520"/>
            <a:ext cx="365760" cy="274320"/>
          </a:xfrm>
          <a:prstGeom prst="rect">
            <a:avLst/>
          </a:prstGeom>
          <a:noFill/>
          <a:ln/>
        </p:spPr>
        <p:txBody>
          <a:bodyPr wrap="square" lIns="0" tIns="0" rIns="0" bIns="0" rtlCol="0" anchor="ctr"/>
          <a:lstStyle/>
          <a:p>
            <a:pPr algn="r" indent="0" marL="0">
              <a:buNone/>
            </a:pPr>
            <a:r>
              <a:rPr lang="en-US" sz="1000" dirty="0">
                <a:solidFill>
                  <a:srgbClr val="5C6B79"/>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5F8FA"/>
          </a:solidFill>
          <a:ln/>
        </p:spPr>
      </p:sp>
      <p:sp>
        <p:nvSpPr>
          <p:cNvPr id="3" name="Text 1"/>
          <p:cNvSpPr txBox="1"/>
          <p:nvPr/>
        </p:nvSpPr>
        <p:spPr>
          <a:xfrm>
            <a:off x="640080" y="457200"/>
            <a:ext cx="7315200" cy="320040"/>
          </a:xfrm>
          <a:prstGeom prst="rect">
            <a:avLst/>
          </a:prstGeom>
          <a:noFill/>
          <a:ln/>
        </p:spPr>
        <p:txBody>
          <a:bodyPr wrap="square" lIns="0" tIns="0" rIns="0" bIns="0" rtlCol="0" anchor="ctr"/>
          <a:lstStyle/>
          <a:p>
            <a:pPr indent="0" marL="0">
              <a:buNone/>
            </a:pPr>
            <a:r>
              <a:rPr lang="en-US" sz="1300" b="1" spc="200" kern="0" dirty="0">
                <a:solidFill>
                  <a:srgbClr val="F2A541"/>
                </a:solidFill>
                <a:latin typeface="Calibri" pitchFamily="34" charset="0"/>
                <a:ea typeface="Calibri" pitchFamily="34" charset="-122"/>
                <a:cs typeface="Calibri" pitchFamily="34" charset="-120"/>
              </a:rPr>
              <a:t>PROGRESS</a:t>
            </a:r>
            <a:endParaRPr lang="en-US" sz="1300" dirty="0"/>
          </a:p>
        </p:txBody>
      </p:sp>
      <p:sp>
        <p:nvSpPr>
          <p:cNvPr id="4" name="Text 2"/>
          <p:cNvSpPr txBox="1"/>
          <p:nvPr/>
        </p:nvSpPr>
        <p:spPr>
          <a:xfrm>
            <a:off x="640080" y="777240"/>
            <a:ext cx="10515600" cy="822960"/>
          </a:xfrm>
          <a:prstGeom prst="rect">
            <a:avLst/>
          </a:prstGeom>
          <a:noFill/>
          <a:ln/>
        </p:spPr>
        <p:txBody>
          <a:bodyPr wrap="square" lIns="0" tIns="0" rIns="0" bIns="0" rtlCol="0" anchor="ctr"/>
          <a:lstStyle/>
          <a:p>
            <a:pPr indent="0" marL="0">
              <a:buNone/>
            </a:pPr>
            <a:r>
              <a:rPr lang="en-US" sz="3400" b="1" dirty="0">
                <a:solidFill>
                  <a:srgbClr val="12355B"/>
                </a:solidFill>
                <a:latin typeface="Cambria" pitchFamily="34" charset="0"/>
                <a:ea typeface="Cambria" pitchFamily="34" charset="-122"/>
                <a:cs typeface="Cambria" pitchFamily="34" charset="-120"/>
              </a:rPr>
              <a:t>Where Things Stand Today</a:t>
            </a:r>
            <a:endParaRPr lang="en-US" sz="3400" dirty="0"/>
          </a:p>
        </p:txBody>
      </p:sp>
      <p:sp>
        <p:nvSpPr>
          <p:cNvPr id="5" name="Text 3"/>
          <p:cNvSpPr txBox="1"/>
          <p:nvPr/>
        </p:nvSpPr>
        <p:spPr>
          <a:xfrm>
            <a:off x="640080" y="1920240"/>
            <a:ext cx="6035040" cy="365760"/>
          </a:xfrm>
          <a:prstGeom prst="rect">
            <a:avLst/>
          </a:prstGeom>
          <a:noFill/>
          <a:ln/>
        </p:spPr>
        <p:txBody>
          <a:bodyPr wrap="square" lIns="0" tIns="0" rIns="0" bIns="0" rtlCol="0" anchor="ctr"/>
          <a:lstStyle/>
          <a:p>
            <a:pPr indent="0" marL="0">
              <a:buNone/>
            </a:pPr>
            <a:r>
              <a:rPr lang="en-US" sz="1600" b="1" dirty="0">
                <a:solidFill>
                  <a:srgbClr val="1C7293"/>
                </a:solidFill>
                <a:latin typeface="Calibri" pitchFamily="34" charset="0"/>
                <a:ea typeface="Calibri" pitchFamily="34" charset="-122"/>
                <a:cs typeface="Calibri" pitchFamily="34" charset="-120"/>
              </a:rPr>
              <a:t>Done</a:t>
            </a:r>
            <a:endParaRPr lang="en-US" sz="1600" dirty="0"/>
          </a:p>
        </p:txBody>
      </p:sp>
      <p:sp>
        <p:nvSpPr>
          <p:cNvPr id="6" name="Shape 4"/>
          <p:cNvSpPr/>
          <p:nvPr/>
        </p:nvSpPr>
        <p:spPr>
          <a:xfrm>
            <a:off x="640080" y="2423160"/>
            <a:ext cx="292608" cy="292608"/>
          </a:xfrm>
          <a:prstGeom prst="ellipse">
            <a:avLst/>
          </a:prstGeom>
          <a:solidFill>
            <a:srgbClr val="1C7293"/>
          </a:solidFill>
          <a:ln/>
        </p:spPr>
      </p:sp>
      <p:sp>
        <p:nvSpPr>
          <p:cNvPr id="7" name="Text 5"/>
          <p:cNvSpPr txBox="1"/>
          <p:nvPr/>
        </p:nvSpPr>
        <p:spPr>
          <a:xfrm>
            <a:off x="640080" y="2423160"/>
            <a:ext cx="292608"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a:t>
            </a:r>
            <a:endParaRPr lang="en-US" sz="1400" dirty="0"/>
          </a:p>
        </p:txBody>
      </p:sp>
      <p:sp>
        <p:nvSpPr>
          <p:cNvPr id="8" name="Text 6"/>
          <p:cNvSpPr txBox="1"/>
          <p:nvPr/>
        </p:nvSpPr>
        <p:spPr>
          <a:xfrm>
            <a:off x="1097280" y="2350008"/>
            <a:ext cx="5577840" cy="548640"/>
          </a:xfrm>
          <a:prstGeom prst="rect">
            <a:avLst/>
          </a:prstGeom>
          <a:noFill/>
          <a:ln/>
        </p:spPr>
        <p:txBody>
          <a:bodyPr wrap="square" lIns="0" tIns="0" rIns="0" bIns="0" rtlCol="0" anchor="t"/>
          <a:lstStyle/>
          <a:p>
            <a:pPr indent="0" marL="0">
              <a:buNone/>
            </a:pPr>
            <a:r>
              <a:rPr lang="en-US" sz="1300" dirty="0">
                <a:solidFill>
                  <a:srgbClr val="16232E"/>
                </a:solidFill>
                <a:latin typeface="Calibri" pitchFamily="34" charset="0"/>
                <a:ea typeface="Calibri" pitchFamily="34" charset="-122"/>
                <a:cs typeface="Calibri" pitchFamily="34" charset="-120"/>
              </a:rPr>
              <a:t>Core translation complete, verified against SAS formula-by-formula</a:t>
            </a:r>
            <a:endParaRPr lang="en-US" sz="1300" dirty="0"/>
          </a:p>
        </p:txBody>
      </p:sp>
      <p:sp>
        <p:nvSpPr>
          <p:cNvPr id="9" name="Shape 7"/>
          <p:cNvSpPr/>
          <p:nvPr/>
        </p:nvSpPr>
        <p:spPr>
          <a:xfrm>
            <a:off x="640080" y="3136392"/>
            <a:ext cx="292608" cy="292608"/>
          </a:xfrm>
          <a:prstGeom prst="ellipse">
            <a:avLst/>
          </a:prstGeom>
          <a:solidFill>
            <a:srgbClr val="1C7293"/>
          </a:solidFill>
          <a:ln/>
        </p:spPr>
      </p:sp>
      <p:sp>
        <p:nvSpPr>
          <p:cNvPr id="10" name="Text 8"/>
          <p:cNvSpPr txBox="1"/>
          <p:nvPr/>
        </p:nvSpPr>
        <p:spPr>
          <a:xfrm>
            <a:off x="640080" y="3136392"/>
            <a:ext cx="292608"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a:t>
            </a:r>
            <a:endParaRPr lang="en-US" sz="1400" dirty="0"/>
          </a:p>
        </p:txBody>
      </p:sp>
      <p:sp>
        <p:nvSpPr>
          <p:cNvPr id="11" name="Text 9"/>
          <p:cNvSpPr txBox="1"/>
          <p:nvPr/>
        </p:nvSpPr>
        <p:spPr>
          <a:xfrm>
            <a:off x="1097280" y="3063240"/>
            <a:ext cx="5577840" cy="548640"/>
          </a:xfrm>
          <a:prstGeom prst="rect">
            <a:avLst/>
          </a:prstGeom>
          <a:noFill/>
          <a:ln/>
        </p:spPr>
        <p:txBody>
          <a:bodyPr wrap="square" lIns="0" tIns="0" rIns="0" bIns="0" rtlCol="0" anchor="t"/>
          <a:lstStyle/>
          <a:p>
            <a:pPr indent="0" marL="0">
              <a:buNone/>
            </a:pPr>
            <a:r>
              <a:rPr lang="en-US" sz="1300" dirty="0">
                <a:solidFill>
                  <a:srgbClr val="16232E"/>
                </a:solidFill>
                <a:latin typeface="Calibri" pitchFamily="34" charset="0"/>
                <a:ea typeface="Calibri" pitchFamily="34" charset="-122"/>
                <a:cs typeface="Calibri" pitchFamily="34" charset="-120"/>
              </a:rPr>
              <a:t>Performance-optimized — fully vectorized acceptance-limit search</a:t>
            </a:r>
            <a:endParaRPr lang="en-US" sz="1300" dirty="0"/>
          </a:p>
        </p:txBody>
      </p:sp>
      <p:sp>
        <p:nvSpPr>
          <p:cNvPr id="12" name="Shape 10"/>
          <p:cNvSpPr/>
          <p:nvPr/>
        </p:nvSpPr>
        <p:spPr>
          <a:xfrm>
            <a:off x="640080" y="3849624"/>
            <a:ext cx="292608" cy="292608"/>
          </a:xfrm>
          <a:prstGeom prst="ellipse">
            <a:avLst/>
          </a:prstGeom>
          <a:solidFill>
            <a:srgbClr val="1C7293"/>
          </a:solidFill>
          <a:ln/>
        </p:spPr>
      </p:sp>
      <p:sp>
        <p:nvSpPr>
          <p:cNvPr id="13" name="Text 11"/>
          <p:cNvSpPr txBox="1"/>
          <p:nvPr/>
        </p:nvSpPr>
        <p:spPr>
          <a:xfrm>
            <a:off x="640080" y="3849624"/>
            <a:ext cx="292608"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a:t>
            </a:r>
            <a:endParaRPr lang="en-US" sz="1400" dirty="0"/>
          </a:p>
        </p:txBody>
      </p:sp>
      <p:sp>
        <p:nvSpPr>
          <p:cNvPr id="14" name="Text 12"/>
          <p:cNvSpPr txBox="1"/>
          <p:nvPr/>
        </p:nvSpPr>
        <p:spPr>
          <a:xfrm>
            <a:off x="1097280" y="3776472"/>
            <a:ext cx="5577840" cy="548640"/>
          </a:xfrm>
          <a:prstGeom prst="rect">
            <a:avLst/>
          </a:prstGeom>
          <a:noFill/>
          <a:ln/>
        </p:spPr>
        <p:txBody>
          <a:bodyPr wrap="square" lIns="0" tIns="0" rIns="0" bIns="0" rtlCol="0" anchor="t"/>
          <a:lstStyle/>
          <a:p>
            <a:pPr indent="0" marL="0">
              <a:buNone/>
            </a:pPr>
            <a:r>
              <a:rPr lang="en-US" sz="1300" dirty="0">
                <a:solidFill>
                  <a:srgbClr val="16232E"/>
                </a:solidFill>
                <a:latin typeface="Calibri" pitchFamily="34" charset="0"/>
                <a:ea typeface="Calibri" pitchFamily="34" charset="-122"/>
                <a:cs typeface="Calibri" pitchFamily="34" charset="-120"/>
              </a:rPr>
              <a:t>CUSP2 edge case investigated and transparently documented</a:t>
            </a:r>
            <a:endParaRPr lang="en-US" sz="1300" dirty="0"/>
          </a:p>
        </p:txBody>
      </p:sp>
      <p:sp>
        <p:nvSpPr>
          <p:cNvPr id="15" name="Shape 13"/>
          <p:cNvSpPr/>
          <p:nvPr/>
        </p:nvSpPr>
        <p:spPr>
          <a:xfrm>
            <a:off x="640080" y="4562856"/>
            <a:ext cx="292608" cy="292608"/>
          </a:xfrm>
          <a:prstGeom prst="ellipse">
            <a:avLst/>
          </a:prstGeom>
          <a:solidFill>
            <a:srgbClr val="1C7293"/>
          </a:solidFill>
          <a:ln/>
        </p:spPr>
      </p:sp>
      <p:sp>
        <p:nvSpPr>
          <p:cNvPr id="16" name="Text 14"/>
          <p:cNvSpPr txBox="1"/>
          <p:nvPr/>
        </p:nvSpPr>
        <p:spPr>
          <a:xfrm>
            <a:off x="640080" y="4562856"/>
            <a:ext cx="292608"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a:t>
            </a:r>
            <a:endParaRPr lang="en-US" sz="1400" dirty="0"/>
          </a:p>
        </p:txBody>
      </p:sp>
      <p:sp>
        <p:nvSpPr>
          <p:cNvPr id="17" name="Text 15"/>
          <p:cNvSpPr txBox="1"/>
          <p:nvPr/>
        </p:nvSpPr>
        <p:spPr>
          <a:xfrm>
            <a:off x="1097280" y="4489704"/>
            <a:ext cx="5577840" cy="548640"/>
          </a:xfrm>
          <a:prstGeom prst="rect">
            <a:avLst/>
          </a:prstGeom>
          <a:noFill/>
          <a:ln/>
        </p:spPr>
        <p:txBody>
          <a:bodyPr wrap="square" lIns="0" tIns="0" rIns="0" bIns="0" rtlCol="0" anchor="t"/>
          <a:lstStyle/>
          <a:p>
            <a:pPr indent="0" marL="0">
              <a:buNone/>
            </a:pPr>
            <a:r>
              <a:rPr lang="en-US" sz="1300" dirty="0">
                <a:solidFill>
                  <a:srgbClr val="16232E"/>
                </a:solidFill>
                <a:latin typeface="Calibri" pitchFamily="34" charset="0"/>
                <a:ea typeface="Calibri" pitchFamily="34" charset="-122"/>
                <a:cs typeface="Calibri" pitchFamily="34" charset="-120"/>
              </a:rPr>
              <a:t>Independent R cross-verification complete (86/86 cases)</a:t>
            </a:r>
            <a:endParaRPr lang="en-US" sz="1300" dirty="0"/>
          </a:p>
        </p:txBody>
      </p:sp>
      <p:sp>
        <p:nvSpPr>
          <p:cNvPr id="18" name="Shape 16"/>
          <p:cNvSpPr/>
          <p:nvPr/>
        </p:nvSpPr>
        <p:spPr>
          <a:xfrm>
            <a:off x="640080" y="5276088"/>
            <a:ext cx="292608" cy="292608"/>
          </a:xfrm>
          <a:prstGeom prst="ellipse">
            <a:avLst/>
          </a:prstGeom>
          <a:solidFill>
            <a:srgbClr val="1C7293"/>
          </a:solidFill>
          <a:ln/>
        </p:spPr>
      </p:sp>
      <p:sp>
        <p:nvSpPr>
          <p:cNvPr id="19" name="Text 17"/>
          <p:cNvSpPr txBox="1"/>
          <p:nvPr/>
        </p:nvSpPr>
        <p:spPr>
          <a:xfrm>
            <a:off x="640080" y="5276088"/>
            <a:ext cx="292608"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a:t>
            </a:r>
            <a:endParaRPr lang="en-US" sz="1400" dirty="0"/>
          </a:p>
        </p:txBody>
      </p:sp>
      <p:sp>
        <p:nvSpPr>
          <p:cNvPr id="20" name="Text 18"/>
          <p:cNvSpPr txBox="1"/>
          <p:nvPr/>
        </p:nvSpPr>
        <p:spPr>
          <a:xfrm>
            <a:off x="1097280" y="5202936"/>
            <a:ext cx="5577840" cy="548640"/>
          </a:xfrm>
          <a:prstGeom prst="rect">
            <a:avLst/>
          </a:prstGeom>
          <a:noFill/>
          <a:ln/>
        </p:spPr>
        <p:txBody>
          <a:bodyPr wrap="square" lIns="0" tIns="0" rIns="0" bIns="0" rtlCol="0" anchor="t"/>
          <a:lstStyle/>
          <a:p>
            <a:pPr indent="0" marL="0">
              <a:buNone/>
            </a:pPr>
            <a:r>
              <a:rPr lang="en-US" sz="1300" dirty="0">
                <a:solidFill>
                  <a:srgbClr val="16232E"/>
                </a:solidFill>
                <a:latin typeface="Calibri" pitchFamily="34" charset="0"/>
                <a:ea typeface="Calibri" pitchFamily="34" charset="-122"/>
                <a:cs typeface="Calibri" pitchFamily="34" charset="-120"/>
              </a:rPr>
              <a:t>Validation Protocol drafted — all appendices and forms structured</a:t>
            </a:r>
            <a:endParaRPr lang="en-US" sz="1300" dirty="0"/>
          </a:p>
        </p:txBody>
      </p:sp>
      <p:sp>
        <p:nvSpPr>
          <p:cNvPr id="21" name="Text 19"/>
          <p:cNvSpPr txBox="1"/>
          <p:nvPr/>
        </p:nvSpPr>
        <p:spPr>
          <a:xfrm>
            <a:off x="7040880" y="1920240"/>
            <a:ext cx="4480560" cy="365760"/>
          </a:xfrm>
          <a:prstGeom prst="rect">
            <a:avLst/>
          </a:prstGeom>
          <a:noFill/>
          <a:ln/>
        </p:spPr>
        <p:txBody>
          <a:bodyPr wrap="square" lIns="0" tIns="0" rIns="0" bIns="0" rtlCol="0" anchor="ctr"/>
          <a:lstStyle/>
          <a:p>
            <a:pPr indent="0" marL="0">
              <a:buNone/>
            </a:pPr>
            <a:r>
              <a:rPr lang="en-US" sz="1600" b="1" dirty="0">
                <a:solidFill>
                  <a:srgbClr val="F2A541"/>
                </a:solidFill>
                <a:latin typeface="Calibri" pitchFamily="34" charset="0"/>
                <a:ea typeface="Calibri" pitchFamily="34" charset="-122"/>
                <a:cs typeface="Calibri" pitchFamily="34" charset="-120"/>
              </a:rPr>
              <a:t>In Progress / Next</a:t>
            </a:r>
            <a:endParaRPr lang="en-US" sz="1600" dirty="0"/>
          </a:p>
        </p:txBody>
      </p:sp>
      <p:sp>
        <p:nvSpPr>
          <p:cNvPr id="22" name="Shape 20"/>
          <p:cNvSpPr/>
          <p:nvPr/>
        </p:nvSpPr>
        <p:spPr>
          <a:xfrm>
            <a:off x="7040880" y="2423160"/>
            <a:ext cx="292608" cy="292608"/>
          </a:xfrm>
          <a:prstGeom prst="ellipse">
            <a:avLst/>
          </a:prstGeom>
          <a:solidFill>
            <a:srgbClr val="FFFFFF"/>
          </a:solidFill>
          <a:ln w="25400">
            <a:solidFill>
              <a:srgbClr val="F2A541"/>
            </a:solidFill>
            <a:prstDash val="solid"/>
          </a:ln>
        </p:spPr>
      </p:sp>
      <p:sp>
        <p:nvSpPr>
          <p:cNvPr id="23" name="Text 21"/>
          <p:cNvSpPr txBox="1"/>
          <p:nvPr/>
        </p:nvSpPr>
        <p:spPr>
          <a:xfrm>
            <a:off x="7498080" y="2350008"/>
            <a:ext cx="4023360" cy="731520"/>
          </a:xfrm>
          <a:prstGeom prst="rect">
            <a:avLst/>
          </a:prstGeom>
          <a:noFill/>
          <a:ln/>
        </p:spPr>
        <p:txBody>
          <a:bodyPr wrap="square" lIns="0" tIns="0" rIns="0" bIns="0" rtlCol="0" anchor="t"/>
          <a:lstStyle/>
          <a:p>
            <a:pPr indent="0" marL="0">
              <a:buNone/>
            </a:pPr>
            <a:r>
              <a:rPr lang="en-US" sz="1300" dirty="0">
                <a:solidFill>
                  <a:srgbClr val="16232E"/>
                </a:solidFill>
                <a:latin typeface="Calibri" pitchFamily="34" charset="0"/>
                <a:ea typeface="Calibri" pitchFamily="34" charset="-122"/>
                <a:cs typeface="Calibri" pitchFamily="34" charset="-120"/>
              </a:rPr>
              <a:t>Community-driven validation execution (Forms 1, 2, 4)</a:t>
            </a:r>
            <a:endParaRPr lang="en-US" sz="1300" dirty="0"/>
          </a:p>
        </p:txBody>
      </p:sp>
      <p:sp>
        <p:nvSpPr>
          <p:cNvPr id="24" name="Shape 22"/>
          <p:cNvSpPr/>
          <p:nvPr/>
        </p:nvSpPr>
        <p:spPr>
          <a:xfrm>
            <a:off x="7040880" y="3337560"/>
            <a:ext cx="292608" cy="292608"/>
          </a:xfrm>
          <a:prstGeom prst="ellipse">
            <a:avLst/>
          </a:prstGeom>
          <a:solidFill>
            <a:srgbClr val="FFFFFF"/>
          </a:solidFill>
          <a:ln w="25400">
            <a:solidFill>
              <a:srgbClr val="F2A541"/>
            </a:solidFill>
            <a:prstDash val="solid"/>
          </a:ln>
        </p:spPr>
      </p:sp>
      <p:sp>
        <p:nvSpPr>
          <p:cNvPr id="25" name="Text 23"/>
          <p:cNvSpPr txBox="1"/>
          <p:nvPr/>
        </p:nvSpPr>
        <p:spPr>
          <a:xfrm>
            <a:off x="7498080" y="3264408"/>
            <a:ext cx="4023360" cy="731520"/>
          </a:xfrm>
          <a:prstGeom prst="rect">
            <a:avLst/>
          </a:prstGeom>
          <a:noFill/>
          <a:ln/>
        </p:spPr>
        <p:txBody>
          <a:bodyPr wrap="square" lIns="0" tIns="0" rIns="0" bIns="0" rtlCol="0" anchor="t"/>
          <a:lstStyle/>
          <a:p>
            <a:pPr indent="0" marL="0">
              <a:buNone/>
            </a:pPr>
            <a:r>
              <a:rPr lang="en-US" sz="1300" dirty="0">
                <a:solidFill>
                  <a:srgbClr val="16232E"/>
                </a:solidFill>
                <a:latin typeface="Calibri" pitchFamily="34" charset="0"/>
                <a:ea typeface="Calibri" pitchFamily="34" charset="-122"/>
                <a:cs typeface="Calibri" pitchFamily="34" charset="-120"/>
              </a:rPr>
              <a:t>Broader accessibility — GUI exploration</a:t>
            </a:r>
            <a:endParaRPr lang="en-US" sz="1300" dirty="0"/>
          </a:p>
        </p:txBody>
      </p:sp>
      <p:sp>
        <p:nvSpPr>
          <p:cNvPr id="26" name="Text 24"/>
          <p:cNvSpPr txBox="1"/>
          <p:nvPr/>
        </p:nvSpPr>
        <p:spPr>
          <a:xfrm>
            <a:off x="11548872" y="6446520"/>
            <a:ext cx="365760" cy="274320"/>
          </a:xfrm>
          <a:prstGeom prst="rect">
            <a:avLst/>
          </a:prstGeom>
          <a:noFill/>
          <a:ln/>
        </p:spPr>
        <p:txBody>
          <a:bodyPr wrap="square" lIns="0" tIns="0" rIns="0" bIns="0" rtlCol="0" anchor="ctr"/>
          <a:lstStyle/>
          <a:p>
            <a:pPr algn="r" indent="0" marL="0">
              <a:buNone/>
            </a:pPr>
            <a:r>
              <a:rPr lang="en-US" sz="1000" dirty="0">
                <a:solidFill>
                  <a:srgbClr val="5C6B79"/>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5F8FA"/>
          </a:solidFill>
          <a:ln/>
        </p:spPr>
      </p:sp>
      <p:sp>
        <p:nvSpPr>
          <p:cNvPr id="3" name="Text 1"/>
          <p:cNvSpPr txBox="1"/>
          <p:nvPr/>
        </p:nvSpPr>
        <p:spPr>
          <a:xfrm>
            <a:off x="640080" y="457200"/>
            <a:ext cx="7315200" cy="320040"/>
          </a:xfrm>
          <a:prstGeom prst="rect">
            <a:avLst/>
          </a:prstGeom>
          <a:noFill/>
          <a:ln/>
        </p:spPr>
        <p:txBody>
          <a:bodyPr wrap="square" lIns="0" tIns="0" rIns="0" bIns="0" rtlCol="0" anchor="ctr"/>
          <a:lstStyle/>
          <a:p>
            <a:pPr indent="0" marL="0">
              <a:buNone/>
            </a:pPr>
            <a:r>
              <a:rPr lang="en-US" sz="1300" b="1" spc="200" kern="0" dirty="0">
                <a:solidFill>
                  <a:srgbClr val="F2A541"/>
                </a:solidFill>
                <a:latin typeface="Calibri" pitchFamily="34" charset="0"/>
                <a:ea typeface="Calibri" pitchFamily="34" charset="-122"/>
                <a:cs typeface="Calibri" pitchFamily="34" charset="-120"/>
              </a:rPr>
              <a:t>OPEN SOURCE</a:t>
            </a:r>
            <a:endParaRPr lang="en-US" sz="1300" dirty="0"/>
          </a:p>
        </p:txBody>
      </p:sp>
      <p:sp>
        <p:nvSpPr>
          <p:cNvPr id="4" name="Text 2"/>
          <p:cNvSpPr txBox="1"/>
          <p:nvPr/>
        </p:nvSpPr>
        <p:spPr>
          <a:xfrm>
            <a:off x="640080" y="777240"/>
            <a:ext cx="10515600" cy="822960"/>
          </a:xfrm>
          <a:prstGeom prst="rect">
            <a:avLst/>
          </a:prstGeom>
          <a:noFill/>
          <a:ln/>
        </p:spPr>
        <p:txBody>
          <a:bodyPr wrap="square" lIns="0" tIns="0" rIns="0" bIns="0" rtlCol="0" anchor="ctr"/>
          <a:lstStyle/>
          <a:p>
            <a:pPr indent="0" marL="0">
              <a:buNone/>
            </a:pPr>
            <a:r>
              <a:rPr lang="en-US" sz="3400" b="1" dirty="0">
                <a:solidFill>
                  <a:srgbClr val="12355B"/>
                </a:solidFill>
                <a:latin typeface="Cambria" pitchFamily="34" charset="0"/>
                <a:ea typeface="Cambria" pitchFamily="34" charset="-122"/>
                <a:cs typeface="Cambria" pitchFamily="34" charset="-120"/>
              </a:rPr>
              <a:t>Built in the Open</a:t>
            </a:r>
            <a:endParaRPr lang="en-US" sz="3400" dirty="0"/>
          </a:p>
        </p:txBody>
      </p:sp>
      <p:sp>
        <p:nvSpPr>
          <p:cNvPr id="5" name="Text 3"/>
          <p:cNvSpPr txBox="1"/>
          <p:nvPr/>
        </p:nvSpPr>
        <p:spPr>
          <a:xfrm>
            <a:off x="640080" y="2011680"/>
            <a:ext cx="5943600" cy="2743200"/>
          </a:xfrm>
          <a:prstGeom prst="rect">
            <a:avLst/>
          </a:prstGeom>
          <a:noFill/>
          <a:ln/>
        </p:spPr>
        <p:txBody>
          <a:bodyPr wrap="square" lIns="0" tIns="0" rIns="0" bIns="0" rtlCol="0" anchor="t"/>
          <a:lstStyle/>
          <a:p>
            <a:pPr marL="228600" indent="-228600">
              <a:spcAft>
                <a:spcPts val="1600"/>
              </a:spcAft>
              <a:buSzPct val="100000"/>
              <a:buChar char="•"/>
            </a:pPr>
            <a:r>
              <a:rPr lang="en-US" sz="1500" dirty="0">
                <a:solidFill>
                  <a:srgbClr val="16232E"/>
                </a:solidFill>
                <a:latin typeface="Calibri" pitchFamily="34" charset="0"/>
                <a:ea typeface="Calibri" pitchFamily="34" charset="-122"/>
                <a:cs typeface="Calibri" pitchFamily="34" charset="-120"/>
              </a:rPr>
              <a:t>Published on GitHub, fully open-source, currently at release v1.0.8</a:t>
            </a:r>
            <a:endParaRPr lang="en-US" sz="1500" dirty="0"/>
          </a:p>
          <a:p>
            <a:pPr marL="228600" indent="-228600">
              <a:spcAft>
                <a:spcPts val="1600"/>
              </a:spcAft>
              <a:buSzPct val="100000"/>
              <a:buChar char="•"/>
            </a:pPr>
            <a:r>
              <a:rPr lang="en-US" sz="1500" dirty="0">
                <a:solidFill>
                  <a:srgbClr val="16232E"/>
                </a:solidFill>
                <a:latin typeface="Calibri" pitchFamily="34" charset="0"/>
                <a:ea typeface="Calibri" pitchFamily="34" charset="-122"/>
                <a:cs typeface="Calibri" pitchFamily="34" charset="-120"/>
              </a:rPr>
              <a:t>Shared with the ISPE Open Forum community, requesting help completing validation</a:t>
            </a:r>
            <a:endParaRPr lang="en-US" sz="1500" dirty="0"/>
          </a:p>
          <a:p>
            <a:pPr marL="228600" indent="-228600">
              <a:spcAft>
                <a:spcPts val="1600"/>
              </a:spcAft>
              <a:buSzPct val="100000"/>
              <a:buChar char="•"/>
            </a:pPr>
            <a:r>
              <a:rPr lang="en-US" sz="1500" dirty="0">
                <a:solidFill>
                  <a:srgbClr val="16232E"/>
                </a:solidFill>
                <a:latin typeface="Calibri" pitchFamily="34" charset="0"/>
                <a:ea typeface="Calibri" pitchFamily="34" charset="-122"/>
                <a:cs typeface="Calibri" pitchFamily="34" charset="-120"/>
              </a:rPr>
              <a:t>Posted for visibility on LinkedIn — open to anyone who wants to try it or contribute</a:t>
            </a:r>
            <a:endParaRPr lang="en-US" sz="1500" dirty="0"/>
          </a:p>
        </p:txBody>
      </p:sp>
      <p:sp>
        <p:nvSpPr>
          <p:cNvPr id="6" name="Shape 4"/>
          <p:cNvSpPr/>
          <p:nvPr/>
        </p:nvSpPr>
        <p:spPr>
          <a:xfrm>
            <a:off x="6949440" y="2011680"/>
            <a:ext cx="4572000" cy="3291840"/>
          </a:xfrm>
          <a:prstGeom prst="roundRect">
            <a:avLst>
              <a:gd name="adj" fmla="val 2222"/>
            </a:avLst>
          </a:prstGeom>
          <a:solidFill>
            <a:srgbClr val="FFFFFF"/>
          </a:solidFill>
          <a:ln w="12700">
            <a:solidFill>
              <a:srgbClr val="E1E8ED"/>
            </a:solidFill>
            <a:prstDash val="solid"/>
          </a:ln>
          <a:effectLst>
            <a:outerShdw sx="100000" sy="100000" kx="0" ky="0" algn="bl" rotWithShape="0" blurRad="101600" dist="25400" dir="5400000">
              <a:srgbClr val="1B2733">
                <a:alpha val="12000"/>
              </a:srgbClr>
            </a:outerShdw>
          </a:effectLst>
        </p:spPr>
      </p:sp>
      <p:sp>
        <p:nvSpPr>
          <p:cNvPr id="7" name="Text 5"/>
          <p:cNvSpPr txBox="1"/>
          <p:nvPr/>
        </p:nvSpPr>
        <p:spPr>
          <a:xfrm>
            <a:off x="7223760" y="2240280"/>
            <a:ext cx="4023360" cy="320040"/>
          </a:xfrm>
          <a:prstGeom prst="rect">
            <a:avLst/>
          </a:prstGeom>
          <a:noFill/>
          <a:ln/>
        </p:spPr>
        <p:txBody>
          <a:bodyPr wrap="square" lIns="0" tIns="0" rIns="0" bIns="0" rtlCol="0" anchor="ctr"/>
          <a:lstStyle/>
          <a:p>
            <a:pPr indent="0" marL="0">
              <a:buNone/>
            </a:pPr>
            <a:r>
              <a:rPr lang="en-US" sz="1500" b="1" dirty="0">
                <a:solidFill>
                  <a:srgbClr val="12355B"/>
                </a:solidFill>
                <a:latin typeface="Calibri" pitchFamily="34" charset="0"/>
                <a:ea typeface="Calibri" pitchFamily="34" charset="-122"/>
                <a:cs typeface="Calibri" pitchFamily="34" charset="-120"/>
              </a:rPr>
              <a:t>Get Involved</a:t>
            </a:r>
            <a:endParaRPr lang="en-US" sz="1500" dirty="0"/>
          </a:p>
        </p:txBody>
      </p:sp>
      <p:sp>
        <p:nvSpPr>
          <p:cNvPr id="8" name="Shape 6"/>
          <p:cNvSpPr/>
          <p:nvPr/>
        </p:nvSpPr>
        <p:spPr>
          <a:xfrm>
            <a:off x="7223760" y="2788920"/>
            <a:ext cx="292608" cy="292608"/>
          </a:xfrm>
          <a:prstGeom prst="ellipse">
            <a:avLst/>
          </a:prstGeom>
          <a:solidFill>
            <a:srgbClr val="12355B"/>
          </a:solidFill>
          <a:ln/>
        </p:spPr>
      </p:sp>
      <p:sp>
        <p:nvSpPr>
          <p:cNvPr id="9" name="Text 7"/>
          <p:cNvSpPr txBox="1"/>
          <p:nvPr/>
        </p:nvSpPr>
        <p:spPr>
          <a:xfrm>
            <a:off x="7223760" y="278892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10" name="Text 8"/>
          <p:cNvSpPr txBox="1"/>
          <p:nvPr/>
        </p:nvSpPr>
        <p:spPr>
          <a:xfrm>
            <a:off x="7680960" y="2743200"/>
            <a:ext cx="3566160" cy="457200"/>
          </a:xfrm>
          <a:prstGeom prst="rect">
            <a:avLst/>
          </a:prstGeom>
          <a:noFill/>
          <a:ln/>
        </p:spPr>
        <p:txBody>
          <a:bodyPr wrap="square" lIns="0" tIns="0" rIns="0" bIns="0" rtlCol="0" anchor="ctr"/>
          <a:lstStyle/>
          <a:p>
            <a:pPr indent="0" marL="0">
              <a:buNone/>
            </a:pPr>
            <a:r>
              <a:rPr lang="en-US" sz="1250" dirty="0">
                <a:solidFill>
                  <a:srgbClr val="16232E"/>
                </a:solidFill>
                <a:latin typeface="Calibri" pitchFamily="34" charset="0"/>
                <a:ea typeface="Calibri" pitchFamily="34" charset="-122"/>
                <a:cs typeface="Calibri" pitchFamily="34" charset="-120"/>
              </a:rPr>
              <a:t>Try it — run real or sample cases</a:t>
            </a:r>
            <a:endParaRPr lang="en-US" sz="1250" dirty="0"/>
          </a:p>
        </p:txBody>
      </p:sp>
      <p:sp>
        <p:nvSpPr>
          <p:cNvPr id="11" name="Shape 9"/>
          <p:cNvSpPr/>
          <p:nvPr/>
        </p:nvSpPr>
        <p:spPr>
          <a:xfrm>
            <a:off x="7223760" y="3429000"/>
            <a:ext cx="292608" cy="292608"/>
          </a:xfrm>
          <a:prstGeom prst="ellipse">
            <a:avLst/>
          </a:prstGeom>
          <a:solidFill>
            <a:srgbClr val="1C7293"/>
          </a:solidFill>
          <a:ln/>
        </p:spPr>
      </p:sp>
      <p:sp>
        <p:nvSpPr>
          <p:cNvPr id="12" name="Text 10"/>
          <p:cNvSpPr txBox="1"/>
          <p:nvPr/>
        </p:nvSpPr>
        <p:spPr>
          <a:xfrm>
            <a:off x="7223760" y="342900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13" name="Text 11"/>
          <p:cNvSpPr txBox="1"/>
          <p:nvPr/>
        </p:nvSpPr>
        <p:spPr>
          <a:xfrm>
            <a:off x="7680960" y="3383280"/>
            <a:ext cx="3566160" cy="457200"/>
          </a:xfrm>
          <a:prstGeom prst="rect">
            <a:avLst/>
          </a:prstGeom>
          <a:noFill/>
          <a:ln/>
        </p:spPr>
        <p:txBody>
          <a:bodyPr wrap="square" lIns="0" tIns="0" rIns="0" bIns="0" rtlCol="0" anchor="ctr"/>
          <a:lstStyle/>
          <a:p>
            <a:pPr indent="0" marL="0">
              <a:buNone/>
            </a:pPr>
            <a:r>
              <a:rPr lang="en-US" sz="1250" dirty="0">
                <a:solidFill>
                  <a:srgbClr val="16232E"/>
                </a:solidFill>
                <a:latin typeface="Calibri" pitchFamily="34" charset="0"/>
                <a:ea typeface="Calibri" pitchFamily="34" charset="-122"/>
                <a:cs typeface="Calibri" pitchFamily="34" charset="-120"/>
              </a:rPr>
              <a:t>Help execute the validation forms</a:t>
            </a:r>
            <a:endParaRPr lang="en-US" sz="1250" dirty="0"/>
          </a:p>
        </p:txBody>
      </p:sp>
      <p:sp>
        <p:nvSpPr>
          <p:cNvPr id="14" name="Shape 12"/>
          <p:cNvSpPr/>
          <p:nvPr/>
        </p:nvSpPr>
        <p:spPr>
          <a:xfrm>
            <a:off x="7223760" y="4069080"/>
            <a:ext cx="292608" cy="292608"/>
          </a:xfrm>
          <a:prstGeom prst="ellipse">
            <a:avLst/>
          </a:prstGeom>
          <a:solidFill>
            <a:srgbClr val="12355B"/>
          </a:solidFill>
          <a:ln/>
        </p:spPr>
      </p:sp>
      <p:sp>
        <p:nvSpPr>
          <p:cNvPr id="15" name="Text 13"/>
          <p:cNvSpPr txBox="1"/>
          <p:nvPr/>
        </p:nvSpPr>
        <p:spPr>
          <a:xfrm>
            <a:off x="7223760" y="406908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16" name="Text 14"/>
          <p:cNvSpPr txBox="1"/>
          <p:nvPr/>
        </p:nvSpPr>
        <p:spPr>
          <a:xfrm>
            <a:off x="7680960" y="4023360"/>
            <a:ext cx="3566160" cy="457200"/>
          </a:xfrm>
          <a:prstGeom prst="rect">
            <a:avLst/>
          </a:prstGeom>
          <a:noFill/>
          <a:ln/>
        </p:spPr>
        <p:txBody>
          <a:bodyPr wrap="square" lIns="0" tIns="0" rIns="0" bIns="0" rtlCol="0" anchor="ctr"/>
          <a:lstStyle/>
          <a:p>
            <a:pPr indent="0" marL="0">
              <a:buNone/>
            </a:pPr>
            <a:r>
              <a:rPr lang="en-US" sz="1250" dirty="0">
                <a:solidFill>
                  <a:srgbClr val="16232E"/>
                </a:solidFill>
                <a:latin typeface="Calibri" pitchFamily="34" charset="0"/>
                <a:ea typeface="Calibri" pitchFamily="34" charset="-122"/>
                <a:cs typeface="Calibri" pitchFamily="34" charset="-120"/>
              </a:rPr>
              <a:t>Report anything unexpected</a:t>
            </a:r>
            <a:endParaRPr lang="en-US" sz="1250" dirty="0"/>
          </a:p>
        </p:txBody>
      </p:sp>
      <p:sp>
        <p:nvSpPr>
          <p:cNvPr id="17" name="Shape 15"/>
          <p:cNvSpPr/>
          <p:nvPr/>
        </p:nvSpPr>
        <p:spPr>
          <a:xfrm>
            <a:off x="640080" y="5074920"/>
            <a:ext cx="10881360" cy="1005840"/>
          </a:xfrm>
          <a:prstGeom prst="roundRect">
            <a:avLst>
              <a:gd name="adj" fmla="val 7273"/>
            </a:avLst>
          </a:prstGeom>
          <a:solidFill>
            <a:srgbClr val="12355B"/>
          </a:solidFill>
          <a:ln/>
        </p:spPr>
      </p:sp>
      <p:sp>
        <p:nvSpPr>
          <p:cNvPr id="18" name="Text 16"/>
          <p:cNvSpPr txBox="1"/>
          <p:nvPr/>
        </p:nvSpPr>
        <p:spPr>
          <a:xfrm>
            <a:off x="914400" y="5212080"/>
            <a:ext cx="10332720" cy="777240"/>
          </a:xfrm>
          <a:prstGeom prst="rect">
            <a:avLst/>
          </a:prstGeom>
          <a:noFill/>
          <a:ln/>
        </p:spPr>
        <p:txBody>
          <a:bodyPr wrap="square" lIns="0" tIns="0" rIns="0" bIns="0" rtlCol="0" anchor="ctr"/>
          <a:lstStyle/>
          <a:p>
            <a:pPr indent="0" marL="0">
              <a:buNone/>
            </a:pPr>
            <a:r>
              <a:rPr lang="en-US" sz="1300" b="1" dirty="0">
                <a:solidFill>
                  <a:srgbClr val="5FA8C4"/>
                </a:solidFill>
                <a:latin typeface="Calibri" pitchFamily="34" charset="0"/>
                <a:ea typeface="Calibri" pitchFamily="34" charset="-122"/>
                <a:cs typeface="Calibri" pitchFamily="34" charset="-120"/>
              </a:rPr>
              <a:t>Repository:  </a:t>
            </a:r>
            <a:pPr indent="0" marL="0">
              <a:buNone/>
            </a:pPr>
            <a:r>
              <a:rPr lang="en-US" sz="1300" dirty="0">
                <a:solidFill>
                  <a:srgbClr val="FFFFFF"/>
                </a:solidFill>
                <a:latin typeface="Calibri" pitchFamily="34" charset="0"/>
                <a:ea typeface="Calibri" pitchFamily="34" charset="-122"/>
                <a:cs typeface="Calibri" pitchFamily="34" charset="-120"/>
              </a:rPr>
              <a:t>github.com/moazelessawey/pycudal</a:t>
            </a:r>
            <a:endParaRPr lang="en-US" sz="1300" dirty="0"/>
          </a:p>
          <a:p>
            <a:pPr indent="0" marL="0">
              <a:buNone/>
            </a:pPr>
            <a:r>
              <a:rPr lang="en-US" sz="1300" b="1" dirty="0">
                <a:solidFill>
                  <a:srgbClr val="5FA8C4"/>
                </a:solidFill>
                <a:latin typeface="Calibri" pitchFamily="34" charset="0"/>
                <a:ea typeface="Calibri" pitchFamily="34" charset="-122"/>
                <a:cs typeface="Calibri" pitchFamily="34" charset="-120"/>
              </a:rPr>
              <a:t>Latest release:  </a:t>
            </a:r>
            <a:pPr indent="0" marL="0">
              <a:buNone/>
            </a:pPr>
            <a:r>
              <a:rPr lang="en-US" sz="1300" dirty="0">
                <a:solidFill>
                  <a:srgbClr val="FFFFFF"/>
                </a:solidFill>
                <a:latin typeface="Calibri" pitchFamily="34" charset="0"/>
                <a:ea typeface="Calibri" pitchFamily="34" charset="-122"/>
                <a:cs typeface="Calibri" pitchFamily="34" charset="-120"/>
              </a:rPr>
              <a:t>github.com/moazelessawey/pycudal/releases/tag/v1.0.8</a:t>
            </a:r>
            <a:endParaRPr lang="en-US" sz="1300" dirty="0"/>
          </a:p>
        </p:txBody>
      </p:sp>
      <p:sp>
        <p:nvSpPr>
          <p:cNvPr id="19" name="Text 17"/>
          <p:cNvSpPr txBox="1"/>
          <p:nvPr/>
        </p:nvSpPr>
        <p:spPr>
          <a:xfrm>
            <a:off x="11548872" y="6446520"/>
            <a:ext cx="365760" cy="274320"/>
          </a:xfrm>
          <a:prstGeom prst="rect">
            <a:avLst/>
          </a:prstGeom>
          <a:noFill/>
          <a:ln/>
        </p:spPr>
        <p:txBody>
          <a:bodyPr wrap="square" lIns="0" tIns="0" rIns="0" bIns="0" rtlCol="0" anchor="ctr"/>
          <a:lstStyle/>
          <a:p>
            <a:pPr algn="r" indent="0" marL="0">
              <a:buNone/>
            </a:pPr>
            <a:r>
              <a:rPr lang="en-US" sz="1000" dirty="0">
                <a:solidFill>
                  <a:srgbClr val="5C6B79"/>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5F8FA"/>
          </a:solidFill>
          <a:ln/>
        </p:spPr>
      </p:sp>
      <p:sp>
        <p:nvSpPr>
          <p:cNvPr id="3" name="Text 1"/>
          <p:cNvSpPr txBox="1"/>
          <p:nvPr/>
        </p:nvSpPr>
        <p:spPr>
          <a:xfrm>
            <a:off x="640080" y="457200"/>
            <a:ext cx="7315200" cy="320040"/>
          </a:xfrm>
          <a:prstGeom prst="rect">
            <a:avLst/>
          </a:prstGeom>
          <a:noFill/>
          <a:ln/>
        </p:spPr>
        <p:txBody>
          <a:bodyPr wrap="square" lIns="0" tIns="0" rIns="0" bIns="0" rtlCol="0" anchor="ctr"/>
          <a:lstStyle/>
          <a:p>
            <a:pPr indent="0" marL="0">
              <a:buNone/>
            </a:pPr>
            <a:r>
              <a:rPr lang="en-US" sz="1300" b="1" spc="200" kern="0" dirty="0">
                <a:solidFill>
                  <a:srgbClr val="F2A541"/>
                </a:solidFill>
                <a:latin typeface="Calibri" pitchFamily="34" charset="0"/>
                <a:ea typeface="Calibri" pitchFamily="34" charset="-122"/>
                <a:cs typeface="Calibri" pitchFamily="34" charset="-120"/>
              </a:rPr>
              <a:t>LOOKING AHEAD</a:t>
            </a:r>
            <a:endParaRPr lang="en-US" sz="1300" dirty="0"/>
          </a:p>
        </p:txBody>
      </p:sp>
      <p:sp>
        <p:nvSpPr>
          <p:cNvPr id="4" name="Text 2"/>
          <p:cNvSpPr txBox="1"/>
          <p:nvPr/>
        </p:nvSpPr>
        <p:spPr>
          <a:xfrm>
            <a:off x="640080" y="777240"/>
            <a:ext cx="10515600" cy="822960"/>
          </a:xfrm>
          <a:prstGeom prst="rect">
            <a:avLst/>
          </a:prstGeom>
          <a:noFill/>
          <a:ln/>
        </p:spPr>
        <p:txBody>
          <a:bodyPr wrap="square" lIns="0" tIns="0" rIns="0" bIns="0" rtlCol="0" anchor="ctr"/>
          <a:lstStyle/>
          <a:p>
            <a:pPr indent="0" marL="0">
              <a:buNone/>
            </a:pPr>
            <a:r>
              <a:rPr lang="en-US" sz="3400" b="1" dirty="0">
                <a:solidFill>
                  <a:srgbClr val="12355B"/>
                </a:solidFill>
                <a:latin typeface="Cambria" pitchFamily="34" charset="0"/>
                <a:ea typeface="Cambria" pitchFamily="34" charset="-122"/>
                <a:cs typeface="Cambria" pitchFamily="34" charset="-120"/>
              </a:rPr>
              <a:t>What's Next</a:t>
            </a:r>
            <a:endParaRPr lang="en-US" sz="3400" dirty="0"/>
          </a:p>
        </p:txBody>
      </p:sp>
      <p:sp>
        <p:nvSpPr>
          <p:cNvPr id="5" name="Shape 3"/>
          <p:cNvSpPr/>
          <p:nvPr/>
        </p:nvSpPr>
        <p:spPr>
          <a:xfrm>
            <a:off x="640080" y="2286000"/>
            <a:ext cx="2514600" cy="2377440"/>
          </a:xfrm>
          <a:prstGeom prst="roundRect">
            <a:avLst>
              <a:gd name="adj" fmla="val 3077"/>
            </a:avLst>
          </a:prstGeom>
          <a:solidFill>
            <a:srgbClr val="FFFFFF"/>
          </a:solidFill>
          <a:ln w="12700">
            <a:solidFill>
              <a:srgbClr val="E1E8ED"/>
            </a:solidFill>
            <a:prstDash val="solid"/>
          </a:ln>
          <a:effectLst>
            <a:outerShdw sx="100000" sy="100000" kx="0" ky="0" algn="bl" rotWithShape="0" blurRad="101600" dist="25400" dir="5400000">
              <a:srgbClr val="1B2733">
                <a:alpha val="12000"/>
              </a:srgbClr>
            </a:outerShdw>
          </a:effectLst>
        </p:spPr>
      </p:sp>
      <p:sp>
        <p:nvSpPr>
          <p:cNvPr id="6" name="Shape 4"/>
          <p:cNvSpPr/>
          <p:nvPr/>
        </p:nvSpPr>
        <p:spPr>
          <a:xfrm>
            <a:off x="640080" y="2286000"/>
            <a:ext cx="2514600" cy="109728"/>
          </a:xfrm>
          <a:prstGeom prst="rect">
            <a:avLst/>
          </a:prstGeom>
          <a:solidFill>
            <a:srgbClr val="12355B"/>
          </a:solidFill>
          <a:ln/>
        </p:spPr>
      </p:sp>
      <p:sp>
        <p:nvSpPr>
          <p:cNvPr id="7" name="Text 5"/>
          <p:cNvSpPr txBox="1"/>
          <p:nvPr/>
        </p:nvSpPr>
        <p:spPr>
          <a:xfrm>
            <a:off x="822960" y="2606040"/>
            <a:ext cx="2148840" cy="365760"/>
          </a:xfrm>
          <a:prstGeom prst="rect">
            <a:avLst/>
          </a:prstGeom>
          <a:noFill/>
          <a:ln/>
        </p:spPr>
        <p:txBody>
          <a:bodyPr wrap="square" lIns="0" tIns="0" rIns="0" bIns="0" rtlCol="0" anchor="ctr"/>
          <a:lstStyle/>
          <a:p>
            <a:pPr indent="0" marL="0">
              <a:buNone/>
            </a:pPr>
            <a:r>
              <a:rPr lang="en-US" sz="1500" b="1" dirty="0">
                <a:solidFill>
                  <a:srgbClr val="12355B"/>
                </a:solidFill>
                <a:latin typeface="Calibri" pitchFamily="34" charset="0"/>
                <a:ea typeface="Calibri" pitchFamily="34" charset="-122"/>
                <a:cs typeface="Calibri" pitchFamily="34" charset="-120"/>
              </a:rPr>
              <a:t>Now</a:t>
            </a:r>
            <a:endParaRPr lang="en-US" sz="1500" dirty="0"/>
          </a:p>
        </p:txBody>
      </p:sp>
      <p:sp>
        <p:nvSpPr>
          <p:cNvPr id="8" name="Text 6"/>
          <p:cNvSpPr txBox="1"/>
          <p:nvPr/>
        </p:nvSpPr>
        <p:spPr>
          <a:xfrm>
            <a:off x="822960" y="3063240"/>
            <a:ext cx="2148840" cy="1463040"/>
          </a:xfrm>
          <a:prstGeom prst="rect">
            <a:avLst/>
          </a:prstGeom>
          <a:noFill/>
          <a:ln/>
        </p:spPr>
        <p:txBody>
          <a:bodyPr wrap="square" lIns="0" tIns="0" rIns="0" bIns="0" rtlCol="0" anchor="t"/>
          <a:lstStyle/>
          <a:p>
            <a:pPr indent="0" marL="0">
              <a:buNone/>
            </a:pPr>
            <a:r>
              <a:rPr lang="en-US" sz="1200" dirty="0">
                <a:solidFill>
                  <a:srgbClr val="5C6B79"/>
                </a:solidFill>
                <a:latin typeface="Calibri" pitchFamily="34" charset="0"/>
                <a:ea typeface="Calibri" pitchFamily="34" charset="-122"/>
                <a:cs typeface="Calibri" pitchFamily="34" charset="-120"/>
              </a:rPr>
              <a:t>Community-driven validation — forms, test execution, issue tracking</a:t>
            </a:r>
            <a:endParaRPr lang="en-US" sz="1200" dirty="0"/>
          </a:p>
        </p:txBody>
      </p:sp>
      <p:sp>
        <p:nvSpPr>
          <p:cNvPr id="9" name="Text 7"/>
          <p:cNvSpPr txBox="1"/>
          <p:nvPr/>
        </p:nvSpPr>
        <p:spPr>
          <a:xfrm>
            <a:off x="3154680" y="3108960"/>
            <a:ext cx="411480" cy="548640"/>
          </a:xfrm>
          <a:prstGeom prst="rect">
            <a:avLst/>
          </a:prstGeom>
          <a:noFill/>
          <a:ln/>
        </p:spPr>
        <p:txBody>
          <a:bodyPr wrap="square" lIns="0" tIns="0" rIns="0" bIns="0" rtlCol="0" anchor="ctr"/>
          <a:lstStyle/>
          <a:p>
            <a:pPr algn="ctr" indent="0" marL="0">
              <a:buNone/>
            </a:pPr>
            <a:r>
              <a:rPr lang="en-US" sz="2000" b="1" dirty="0">
                <a:solidFill>
                  <a:srgbClr val="F2A541"/>
                </a:solidFill>
              </a:rPr>
              <a:t>→</a:t>
            </a:r>
            <a:endParaRPr lang="en-US" sz="2000" dirty="0"/>
          </a:p>
        </p:txBody>
      </p:sp>
      <p:sp>
        <p:nvSpPr>
          <p:cNvPr id="10" name="Shape 8"/>
          <p:cNvSpPr/>
          <p:nvPr/>
        </p:nvSpPr>
        <p:spPr>
          <a:xfrm>
            <a:off x="3566160" y="2286000"/>
            <a:ext cx="2514600" cy="2377440"/>
          </a:xfrm>
          <a:prstGeom prst="roundRect">
            <a:avLst>
              <a:gd name="adj" fmla="val 3077"/>
            </a:avLst>
          </a:prstGeom>
          <a:solidFill>
            <a:srgbClr val="FFFFFF"/>
          </a:solidFill>
          <a:ln w="12700">
            <a:solidFill>
              <a:srgbClr val="E1E8ED"/>
            </a:solidFill>
            <a:prstDash val="solid"/>
          </a:ln>
          <a:effectLst>
            <a:outerShdw sx="100000" sy="100000" kx="0" ky="0" algn="bl" rotWithShape="0" blurRad="101600" dist="25400" dir="5400000">
              <a:srgbClr val="1B2733">
                <a:alpha val="12000"/>
              </a:srgbClr>
            </a:outerShdw>
          </a:effectLst>
        </p:spPr>
      </p:sp>
      <p:sp>
        <p:nvSpPr>
          <p:cNvPr id="11" name="Shape 9"/>
          <p:cNvSpPr/>
          <p:nvPr/>
        </p:nvSpPr>
        <p:spPr>
          <a:xfrm>
            <a:off x="3566160" y="2286000"/>
            <a:ext cx="2514600" cy="109728"/>
          </a:xfrm>
          <a:prstGeom prst="rect">
            <a:avLst/>
          </a:prstGeom>
          <a:solidFill>
            <a:srgbClr val="1C7293"/>
          </a:solidFill>
          <a:ln/>
        </p:spPr>
      </p:sp>
      <p:sp>
        <p:nvSpPr>
          <p:cNvPr id="12" name="Text 10"/>
          <p:cNvSpPr txBox="1"/>
          <p:nvPr/>
        </p:nvSpPr>
        <p:spPr>
          <a:xfrm>
            <a:off x="3749040" y="2606040"/>
            <a:ext cx="2148840" cy="365760"/>
          </a:xfrm>
          <a:prstGeom prst="rect">
            <a:avLst/>
          </a:prstGeom>
          <a:noFill/>
          <a:ln/>
        </p:spPr>
        <p:txBody>
          <a:bodyPr wrap="square" lIns="0" tIns="0" rIns="0" bIns="0" rtlCol="0" anchor="ctr"/>
          <a:lstStyle/>
          <a:p>
            <a:pPr indent="0" marL="0">
              <a:buNone/>
            </a:pPr>
            <a:r>
              <a:rPr lang="en-US" sz="1500" b="1" dirty="0">
                <a:solidFill>
                  <a:srgbClr val="1C7293"/>
                </a:solidFill>
                <a:latin typeface="Calibri" pitchFamily="34" charset="0"/>
                <a:ea typeface="Calibri" pitchFamily="34" charset="-122"/>
                <a:cs typeface="Calibri" pitchFamily="34" charset="-120"/>
              </a:rPr>
              <a:t>Next</a:t>
            </a:r>
            <a:endParaRPr lang="en-US" sz="1500" dirty="0"/>
          </a:p>
        </p:txBody>
      </p:sp>
      <p:sp>
        <p:nvSpPr>
          <p:cNvPr id="13" name="Text 11"/>
          <p:cNvSpPr txBox="1"/>
          <p:nvPr/>
        </p:nvSpPr>
        <p:spPr>
          <a:xfrm>
            <a:off x="3749040" y="3063240"/>
            <a:ext cx="2148840" cy="1463040"/>
          </a:xfrm>
          <a:prstGeom prst="rect">
            <a:avLst/>
          </a:prstGeom>
          <a:noFill/>
          <a:ln/>
        </p:spPr>
        <p:txBody>
          <a:bodyPr wrap="square" lIns="0" tIns="0" rIns="0" bIns="0" rtlCol="0" anchor="t"/>
          <a:lstStyle/>
          <a:p>
            <a:pPr indent="0" marL="0">
              <a:buNone/>
            </a:pPr>
            <a:r>
              <a:rPr lang="en-US" sz="1200" dirty="0">
                <a:solidFill>
                  <a:srgbClr val="5C6B79"/>
                </a:solidFill>
                <a:latin typeface="Calibri" pitchFamily="34" charset="0"/>
                <a:ea typeface="Calibri" pitchFamily="34" charset="-122"/>
                <a:cs typeface="Calibri" pitchFamily="34" charset="-120"/>
              </a:rPr>
              <a:t>Expand test data coverage across edge cases</a:t>
            </a:r>
            <a:endParaRPr lang="en-US" sz="1200" dirty="0"/>
          </a:p>
        </p:txBody>
      </p:sp>
      <p:sp>
        <p:nvSpPr>
          <p:cNvPr id="14" name="Text 12"/>
          <p:cNvSpPr txBox="1"/>
          <p:nvPr/>
        </p:nvSpPr>
        <p:spPr>
          <a:xfrm>
            <a:off x="6080760" y="3108960"/>
            <a:ext cx="411480" cy="548640"/>
          </a:xfrm>
          <a:prstGeom prst="rect">
            <a:avLst/>
          </a:prstGeom>
          <a:noFill/>
          <a:ln/>
        </p:spPr>
        <p:txBody>
          <a:bodyPr wrap="square" lIns="0" tIns="0" rIns="0" bIns="0" rtlCol="0" anchor="ctr"/>
          <a:lstStyle/>
          <a:p>
            <a:pPr algn="ctr" indent="0" marL="0">
              <a:buNone/>
            </a:pPr>
            <a:r>
              <a:rPr lang="en-US" sz="2000" b="1" dirty="0">
                <a:solidFill>
                  <a:srgbClr val="F2A541"/>
                </a:solidFill>
              </a:rPr>
              <a:t>→</a:t>
            </a:r>
            <a:endParaRPr lang="en-US" sz="2000" dirty="0"/>
          </a:p>
        </p:txBody>
      </p:sp>
      <p:sp>
        <p:nvSpPr>
          <p:cNvPr id="15" name="Shape 13"/>
          <p:cNvSpPr/>
          <p:nvPr/>
        </p:nvSpPr>
        <p:spPr>
          <a:xfrm>
            <a:off x="6492240" y="2286000"/>
            <a:ext cx="2514600" cy="2377440"/>
          </a:xfrm>
          <a:prstGeom prst="roundRect">
            <a:avLst>
              <a:gd name="adj" fmla="val 3077"/>
            </a:avLst>
          </a:prstGeom>
          <a:solidFill>
            <a:srgbClr val="FFFFFF"/>
          </a:solidFill>
          <a:ln w="12700">
            <a:solidFill>
              <a:srgbClr val="E1E8ED"/>
            </a:solidFill>
            <a:prstDash val="solid"/>
          </a:ln>
          <a:effectLst>
            <a:outerShdw sx="100000" sy="100000" kx="0" ky="0" algn="bl" rotWithShape="0" blurRad="101600" dist="25400" dir="5400000">
              <a:srgbClr val="1B2733">
                <a:alpha val="12000"/>
              </a:srgbClr>
            </a:outerShdw>
          </a:effectLst>
        </p:spPr>
      </p:sp>
      <p:sp>
        <p:nvSpPr>
          <p:cNvPr id="16" name="Shape 14"/>
          <p:cNvSpPr/>
          <p:nvPr/>
        </p:nvSpPr>
        <p:spPr>
          <a:xfrm>
            <a:off x="6492240" y="2286000"/>
            <a:ext cx="2514600" cy="109728"/>
          </a:xfrm>
          <a:prstGeom prst="rect">
            <a:avLst/>
          </a:prstGeom>
          <a:solidFill>
            <a:srgbClr val="F2A541"/>
          </a:solidFill>
          <a:ln/>
        </p:spPr>
      </p:sp>
      <p:sp>
        <p:nvSpPr>
          <p:cNvPr id="17" name="Text 15"/>
          <p:cNvSpPr txBox="1"/>
          <p:nvPr/>
        </p:nvSpPr>
        <p:spPr>
          <a:xfrm>
            <a:off x="6675120" y="2606040"/>
            <a:ext cx="2148840" cy="365760"/>
          </a:xfrm>
          <a:prstGeom prst="rect">
            <a:avLst/>
          </a:prstGeom>
          <a:noFill/>
          <a:ln/>
        </p:spPr>
        <p:txBody>
          <a:bodyPr wrap="square" lIns="0" tIns="0" rIns="0" bIns="0" rtlCol="0" anchor="ctr"/>
          <a:lstStyle/>
          <a:p>
            <a:pPr indent="0" marL="0">
              <a:buNone/>
            </a:pPr>
            <a:r>
              <a:rPr lang="en-US" sz="1500" b="1" dirty="0">
                <a:solidFill>
                  <a:srgbClr val="F2A541"/>
                </a:solidFill>
                <a:latin typeface="Calibri" pitchFamily="34" charset="0"/>
                <a:ea typeface="Calibri" pitchFamily="34" charset="-122"/>
                <a:cs typeface="Calibri" pitchFamily="34" charset="-120"/>
              </a:rPr>
              <a:t>Then</a:t>
            </a:r>
            <a:endParaRPr lang="en-US" sz="1500" dirty="0"/>
          </a:p>
        </p:txBody>
      </p:sp>
      <p:sp>
        <p:nvSpPr>
          <p:cNvPr id="18" name="Text 16"/>
          <p:cNvSpPr txBox="1"/>
          <p:nvPr/>
        </p:nvSpPr>
        <p:spPr>
          <a:xfrm>
            <a:off x="6675120" y="3063240"/>
            <a:ext cx="2148840" cy="1463040"/>
          </a:xfrm>
          <a:prstGeom prst="rect">
            <a:avLst/>
          </a:prstGeom>
          <a:noFill/>
          <a:ln/>
        </p:spPr>
        <p:txBody>
          <a:bodyPr wrap="square" lIns="0" tIns="0" rIns="0" bIns="0" rtlCol="0" anchor="t"/>
          <a:lstStyle/>
          <a:p>
            <a:pPr indent="0" marL="0">
              <a:buNone/>
            </a:pPr>
            <a:r>
              <a:rPr lang="en-US" sz="1200" dirty="0">
                <a:solidFill>
                  <a:srgbClr val="5C6B79"/>
                </a:solidFill>
                <a:latin typeface="Calibri" pitchFamily="34" charset="0"/>
                <a:ea typeface="Calibri" pitchFamily="34" charset="-122"/>
                <a:cs typeface="Calibri" pitchFamily="34" charset="-120"/>
              </a:rPr>
              <a:t>Explore a GUI for non-technical users</a:t>
            </a:r>
            <a:endParaRPr lang="en-US" sz="1200" dirty="0"/>
          </a:p>
        </p:txBody>
      </p:sp>
      <p:sp>
        <p:nvSpPr>
          <p:cNvPr id="19" name="Text 17"/>
          <p:cNvSpPr txBox="1"/>
          <p:nvPr/>
        </p:nvSpPr>
        <p:spPr>
          <a:xfrm>
            <a:off x="9006840" y="3108960"/>
            <a:ext cx="411480" cy="548640"/>
          </a:xfrm>
          <a:prstGeom prst="rect">
            <a:avLst/>
          </a:prstGeom>
          <a:noFill/>
          <a:ln/>
        </p:spPr>
        <p:txBody>
          <a:bodyPr wrap="square" lIns="0" tIns="0" rIns="0" bIns="0" rtlCol="0" anchor="ctr"/>
          <a:lstStyle/>
          <a:p>
            <a:pPr algn="ctr" indent="0" marL="0">
              <a:buNone/>
            </a:pPr>
            <a:r>
              <a:rPr lang="en-US" sz="2000" b="1" dirty="0">
                <a:solidFill>
                  <a:srgbClr val="F2A541"/>
                </a:solidFill>
              </a:rPr>
              <a:t>→</a:t>
            </a:r>
            <a:endParaRPr lang="en-US" sz="2000" dirty="0"/>
          </a:p>
        </p:txBody>
      </p:sp>
      <p:sp>
        <p:nvSpPr>
          <p:cNvPr id="20" name="Shape 18"/>
          <p:cNvSpPr/>
          <p:nvPr/>
        </p:nvSpPr>
        <p:spPr>
          <a:xfrm>
            <a:off x="9418320" y="2286000"/>
            <a:ext cx="2514600" cy="2377440"/>
          </a:xfrm>
          <a:prstGeom prst="roundRect">
            <a:avLst>
              <a:gd name="adj" fmla="val 3077"/>
            </a:avLst>
          </a:prstGeom>
          <a:solidFill>
            <a:srgbClr val="FFFFFF"/>
          </a:solidFill>
          <a:ln w="12700">
            <a:solidFill>
              <a:srgbClr val="E1E8ED"/>
            </a:solidFill>
            <a:prstDash val="solid"/>
          </a:ln>
          <a:effectLst>
            <a:outerShdw sx="100000" sy="100000" kx="0" ky="0" algn="bl" rotWithShape="0" blurRad="101600" dist="25400" dir="5400000">
              <a:srgbClr val="1B2733">
                <a:alpha val="12000"/>
              </a:srgbClr>
            </a:outerShdw>
          </a:effectLst>
        </p:spPr>
      </p:sp>
      <p:sp>
        <p:nvSpPr>
          <p:cNvPr id="21" name="Shape 19"/>
          <p:cNvSpPr/>
          <p:nvPr/>
        </p:nvSpPr>
        <p:spPr>
          <a:xfrm>
            <a:off x="9418320" y="2286000"/>
            <a:ext cx="2514600" cy="109728"/>
          </a:xfrm>
          <a:prstGeom prst="rect">
            <a:avLst/>
          </a:prstGeom>
          <a:solidFill>
            <a:srgbClr val="12355B"/>
          </a:solidFill>
          <a:ln/>
        </p:spPr>
      </p:sp>
      <p:sp>
        <p:nvSpPr>
          <p:cNvPr id="22" name="Text 20"/>
          <p:cNvSpPr txBox="1"/>
          <p:nvPr/>
        </p:nvSpPr>
        <p:spPr>
          <a:xfrm>
            <a:off x="9601200" y="2606040"/>
            <a:ext cx="2148840" cy="365760"/>
          </a:xfrm>
          <a:prstGeom prst="rect">
            <a:avLst/>
          </a:prstGeom>
          <a:noFill/>
          <a:ln/>
        </p:spPr>
        <p:txBody>
          <a:bodyPr wrap="square" lIns="0" tIns="0" rIns="0" bIns="0" rtlCol="0" anchor="ctr"/>
          <a:lstStyle/>
          <a:p>
            <a:pPr indent="0" marL="0">
              <a:buNone/>
            </a:pPr>
            <a:r>
              <a:rPr lang="en-US" sz="1500" b="1" dirty="0">
                <a:solidFill>
                  <a:srgbClr val="12355B"/>
                </a:solidFill>
                <a:latin typeface="Calibri" pitchFamily="34" charset="0"/>
                <a:ea typeface="Calibri" pitchFamily="34" charset="-122"/>
                <a:cs typeface="Calibri" pitchFamily="34" charset="-120"/>
              </a:rPr>
              <a:t>Later</a:t>
            </a:r>
            <a:endParaRPr lang="en-US" sz="1500" dirty="0"/>
          </a:p>
        </p:txBody>
      </p:sp>
      <p:sp>
        <p:nvSpPr>
          <p:cNvPr id="23" name="Text 21"/>
          <p:cNvSpPr txBox="1"/>
          <p:nvPr/>
        </p:nvSpPr>
        <p:spPr>
          <a:xfrm>
            <a:off x="9601200" y="3063240"/>
            <a:ext cx="2148840" cy="1463040"/>
          </a:xfrm>
          <a:prstGeom prst="rect">
            <a:avLst/>
          </a:prstGeom>
          <a:noFill/>
          <a:ln/>
        </p:spPr>
        <p:txBody>
          <a:bodyPr wrap="square" lIns="0" tIns="0" rIns="0" bIns="0" rtlCol="0" anchor="t"/>
          <a:lstStyle/>
          <a:p>
            <a:pPr indent="0" marL="0">
              <a:buNone/>
            </a:pPr>
            <a:r>
              <a:rPr lang="en-US" sz="1200" dirty="0">
                <a:solidFill>
                  <a:srgbClr val="5C6B79"/>
                </a:solidFill>
                <a:latin typeface="Calibri" pitchFamily="34" charset="0"/>
                <a:ea typeface="Calibri" pitchFamily="34" charset="-122"/>
                <a:cs typeface="Calibri" pitchFamily="34" charset="-120"/>
              </a:rPr>
              <a:t>Formal release once validation closes</a:t>
            </a:r>
            <a:endParaRPr lang="en-US" sz="1200" dirty="0"/>
          </a:p>
        </p:txBody>
      </p:sp>
      <p:sp>
        <p:nvSpPr>
          <p:cNvPr id="24" name="Text 22"/>
          <p:cNvSpPr txBox="1"/>
          <p:nvPr/>
        </p:nvSpPr>
        <p:spPr>
          <a:xfrm>
            <a:off x="11548872" y="6446520"/>
            <a:ext cx="365760" cy="274320"/>
          </a:xfrm>
          <a:prstGeom prst="rect">
            <a:avLst/>
          </a:prstGeom>
          <a:noFill/>
          <a:ln/>
        </p:spPr>
        <p:txBody>
          <a:bodyPr wrap="square" lIns="0" tIns="0" rIns="0" bIns="0" rtlCol="0" anchor="ctr"/>
          <a:lstStyle/>
          <a:p>
            <a:pPr algn="r" indent="0" marL="0">
              <a:buNone/>
            </a:pPr>
            <a:r>
              <a:rPr lang="en-US" sz="1000" dirty="0">
                <a:solidFill>
                  <a:srgbClr val="5C6B79"/>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2355B"/>
          </a:solidFill>
          <a:ln/>
        </p:spPr>
      </p:sp>
      <p:sp>
        <p:nvSpPr>
          <p:cNvPr id="3" name="Shape 1"/>
          <p:cNvSpPr/>
          <p:nvPr/>
        </p:nvSpPr>
        <p:spPr>
          <a:xfrm>
            <a:off x="8412480" y="-2286000"/>
            <a:ext cx="5943600" cy="5943600"/>
          </a:xfrm>
          <a:prstGeom prst="ellipse">
            <a:avLst/>
          </a:prstGeom>
          <a:solidFill>
            <a:srgbClr val="0B2440"/>
          </a:solidFill>
          <a:ln/>
        </p:spPr>
      </p:sp>
      <p:sp>
        <p:nvSpPr>
          <p:cNvPr id="4" name="Shape 2"/>
          <p:cNvSpPr/>
          <p:nvPr/>
        </p:nvSpPr>
        <p:spPr>
          <a:xfrm>
            <a:off x="-2103120" y="3474720"/>
            <a:ext cx="4754880" cy="4754880"/>
          </a:xfrm>
          <a:prstGeom prst="ellipse">
            <a:avLst/>
          </a:prstGeom>
          <a:solidFill>
            <a:srgbClr val="1C7293"/>
          </a:solidFill>
          <a:ln/>
        </p:spPr>
      </p:sp>
      <p:sp>
        <p:nvSpPr>
          <p:cNvPr id="5" name="Text 3"/>
          <p:cNvSpPr txBox="1"/>
          <p:nvPr/>
        </p:nvSpPr>
        <p:spPr>
          <a:xfrm>
            <a:off x="640080" y="2286000"/>
            <a:ext cx="10058400" cy="91440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Let's Build This Together</a:t>
            </a:r>
            <a:endParaRPr lang="en-US" sz="4200" dirty="0"/>
          </a:p>
        </p:txBody>
      </p:sp>
      <p:sp>
        <p:nvSpPr>
          <p:cNvPr id="6" name="Text 4"/>
          <p:cNvSpPr txBox="1"/>
          <p:nvPr/>
        </p:nvSpPr>
        <p:spPr>
          <a:xfrm>
            <a:off x="658368" y="3154680"/>
            <a:ext cx="9144000" cy="548640"/>
          </a:xfrm>
          <a:prstGeom prst="rect">
            <a:avLst/>
          </a:prstGeom>
          <a:noFill/>
          <a:ln/>
        </p:spPr>
        <p:txBody>
          <a:bodyPr wrap="square" lIns="0" tIns="0" rIns="0" bIns="0" rtlCol="0" anchor="ctr"/>
          <a:lstStyle/>
          <a:p>
            <a:pPr indent="0" marL="0">
              <a:buNone/>
            </a:pPr>
            <a:r>
              <a:rPr lang="en-US" sz="1900" dirty="0">
                <a:solidFill>
                  <a:srgbClr val="5FA8C4"/>
                </a:solidFill>
                <a:latin typeface="Calibri" pitchFamily="34" charset="0"/>
                <a:ea typeface="Calibri" pitchFamily="34" charset="-122"/>
                <a:cs typeface="Calibri" pitchFamily="34" charset="-120"/>
              </a:rPr>
              <a:t>Try it. Test it. Help validate it.</a:t>
            </a:r>
            <a:endParaRPr lang="en-US" sz="1900" dirty="0"/>
          </a:p>
        </p:txBody>
      </p:sp>
      <p:sp>
        <p:nvSpPr>
          <p:cNvPr id="7" name="Shape 5"/>
          <p:cNvSpPr/>
          <p:nvPr/>
        </p:nvSpPr>
        <p:spPr>
          <a:xfrm>
            <a:off x="640080" y="4160520"/>
            <a:ext cx="8686800" cy="1188720"/>
          </a:xfrm>
          <a:prstGeom prst="roundRect">
            <a:avLst>
              <a:gd name="adj" fmla="val 6154"/>
            </a:avLst>
          </a:prstGeom>
          <a:solidFill>
            <a:srgbClr val="0B2440"/>
          </a:solidFill>
          <a:ln w="12700">
            <a:solidFill>
              <a:srgbClr val="1C7293"/>
            </a:solidFill>
            <a:prstDash val="solid"/>
          </a:ln>
        </p:spPr>
      </p:sp>
      <p:sp>
        <p:nvSpPr>
          <p:cNvPr id="8" name="Text 6"/>
          <p:cNvSpPr txBox="1"/>
          <p:nvPr/>
        </p:nvSpPr>
        <p:spPr>
          <a:xfrm>
            <a:off x="914400" y="4279392"/>
            <a:ext cx="8138160" cy="960120"/>
          </a:xfrm>
          <a:prstGeom prst="rect">
            <a:avLst/>
          </a:prstGeom>
          <a:noFill/>
          <a:ln/>
        </p:spPr>
        <p:txBody>
          <a:bodyPr wrap="square" lIns="0" tIns="0" rIns="0" bIns="0" rtlCol="0" anchor="t"/>
          <a:lstStyle/>
          <a:p>
            <a:pPr indent="0" marL="0">
              <a:buNone/>
            </a:pPr>
            <a:r>
              <a:rPr lang="en-US" sz="1350" b="1" dirty="0">
                <a:solidFill>
                  <a:srgbClr val="F2A541"/>
                </a:solidFill>
                <a:latin typeface="Calibri" pitchFamily="34" charset="0"/>
                <a:ea typeface="Calibri" pitchFamily="34" charset="-122"/>
                <a:cs typeface="Calibri" pitchFamily="34" charset="-120"/>
              </a:rPr>
              <a:t>Repository:  </a:t>
            </a:r>
            <a:endParaRPr lang="en-US" sz="1350" dirty="0"/>
          </a:p>
          <a:p>
            <a:pPr indent="0" marL="0">
              <a:buNone/>
            </a:pPr>
            <a:r>
              <a:rPr lang="en-US" sz="1350" dirty="0">
                <a:solidFill>
                  <a:srgbClr val="FFFFFF"/>
                </a:solidFill>
                <a:latin typeface="Calibri" pitchFamily="34" charset="0"/>
                <a:ea typeface="Calibri" pitchFamily="34" charset="-122"/>
                <a:cs typeface="Calibri" pitchFamily="34" charset="-120"/>
              </a:rPr>
              <a:t>github.com/moazelessawey/pycudal</a:t>
            </a:r>
            <a:endParaRPr lang="en-US" sz="1350" dirty="0"/>
          </a:p>
          <a:p>
            <a:pPr indent="0" marL="0">
              <a:buNone/>
            </a:pPr>
            <a:r>
              <a:rPr lang="en-US" sz="1350" b="1" dirty="0">
                <a:solidFill>
                  <a:srgbClr val="F2A541"/>
                </a:solidFill>
                <a:latin typeface="Calibri" pitchFamily="34" charset="0"/>
                <a:ea typeface="Calibri" pitchFamily="34" charset="-122"/>
                <a:cs typeface="Calibri" pitchFamily="34" charset="-120"/>
              </a:rPr>
              <a:t>Latest release:  </a:t>
            </a:r>
            <a:endParaRPr lang="en-US" sz="1350" dirty="0"/>
          </a:p>
          <a:p>
            <a:pPr indent="0" marL="0">
              <a:buNone/>
            </a:pPr>
            <a:r>
              <a:rPr lang="en-US" sz="1350" dirty="0">
                <a:solidFill>
                  <a:srgbClr val="FFFFFF"/>
                </a:solidFill>
                <a:latin typeface="Calibri" pitchFamily="34" charset="0"/>
                <a:ea typeface="Calibri" pitchFamily="34" charset="-122"/>
                <a:cs typeface="Calibri" pitchFamily="34" charset="-120"/>
              </a:rPr>
              <a:t>github.com/moazelessawey/pycudal/releases/tag/v1.0.8</a:t>
            </a:r>
            <a:endParaRPr lang="en-US" sz="1350" dirty="0"/>
          </a:p>
        </p:txBody>
      </p:sp>
      <p:sp>
        <p:nvSpPr>
          <p:cNvPr id="9" name="Text 7"/>
          <p:cNvSpPr txBox="1"/>
          <p:nvPr/>
        </p:nvSpPr>
        <p:spPr>
          <a:xfrm>
            <a:off x="640080" y="5623560"/>
            <a:ext cx="7315200" cy="365760"/>
          </a:xfrm>
          <a:prstGeom prst="rect">
            <a:avLst/>
          </a:prstGeom>
          <a:noFill/>
          <a:ln/>
        </p:spPr>
        <p:txBody>
          <a:bodyPr wrap="square" lIns="0" tIns="0" rIns="0" bIns="0" rtlCol="0" anchor="ctr"/>
          <a:lstStyle/>
          <a:p>
            <a:pPr indent="0" marL="0">
              <a:buNone/>
            </a:pPr>
            <a:r>
              <a:rPr lang="en-US" sz="1300" i="1" dirty="0">
                <a:solidFill>
                  <a:srgbClr val="CFE3ED"/>
                </a:solidFill>
                <a:latin typeface="Calibri" pitchFamily="34" charset="0"/>
                <a:ea typeface="Calibri" pitchFamily="34" charset="-122"/>
                <a:cs typeface="Calibri" pitchFamily="34" charset="-120"/>
              </a:rPr>
              <a:t>Thank you for watching.</a:t>
            </a:r>
            <a:endParaRPr lang="en-US" sz="1300" dirty="0"/>
          </a:p>
        </p:txBody>
      </p:sp>
      <p:sp>
        <p:nvSpPr>
          <p:cNvPr id="10" name="Text 8"/>
          <p:cNvSpPr txBox="1"/>
          <p:nvPr/>
        </p:nvSpPr>
        <p:spPr>
          <a:xfrm>
            <a:off x="11548872" y="6446520"/>
            <a:ext cx="365760" cy="274320"/>
          </a:xfrm>
          <a:prstGeom prst="rect">
            <a:avLst/>
          </a:prstGeom>
          <a:noFill/>
          <a:ln/>
        </p:spPr>
        <p:txBody>
          <a:bodyPr wrap="square" lIns="0" tIns="0" rIns="0" bIns="0" rtlCol="0" anchor="ctr"/>
          <a:lstStyle/>
          <a:p>
            <a:pPr algn="r" indent="0" marL="0">
              <a:buNone/>
            </a:pPr>
            <a:r>
              <a:rPr lang="en-US" sz="1000" dirty="0">
                <a:solidFill>
                  <a:srgbClr val="CFE3ED"/>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2026-08-31T18:43:40Z</dcterms:created>
  <dcterms:modified xsi:type="dcterms:W3CDTF">2026-08-31T18:43:40Z</dcterms:modified>
</cp:coreProperties>
</file>